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723900" y="75247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B3C8D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5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B3C8D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《软件系统分析与设计》课程实践</a:t>
            </a:r>
            <a:endParaRPr sz="15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323975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390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学术成果分享平台</a:t>
            </a:r>
            <a:endParaRPr sz="390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22764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550" b="0">
                <a:solidFill>
                  <a:srgbClr val="69D0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325" b="0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0">
                <a:solidFill>
                  <a:srgbClr val="69D0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 需求建模汇报</a:t>
            </a:r>
            <a:endParaRPr sz="2325" b="0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3067050"/>
            <a:ext cx="10668000" cy="1905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327660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6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基线：B 组 SRS V1.1    交付：六个用例、SRS、SPEC 与验收追溯</a:t>
            </a:r>
            <a:endParaRPr sz="16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407670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小组名称：__</a:t>
            </a:r>
            <a:r>
              <a:rPr lang="zh-CN" sz="150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请输入文本</a:t>
            </a:r>
            <a:r>
              <a:rPr sz="150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_    汇报人：__</a:t>
            </a:r>
            <a:r>
              <a:rPr lang="zh-CN" sz="150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张世涵</a:t>
            </a:r>
            <a:r>
              <a:rPr sz="1500" b="0">
                <a:solidFill>
                  <a:srgbClr val="E6F0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__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4514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5753100"/>
            <a:ext cx="10477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B3C8D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2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B3C8D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2026 年 10 月 </a:t>
            </a:r>
            <a:endParaRPr sz="12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基线：四类实测、七类设计、六个用例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2/10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381125"/>
            <a:ext cx="3381375" cy="38576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381125"/>
            <a:ext cx="57150" cy="38576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50495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调研输入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924050"/>
            <a:ext cx="29718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1 核验论文、专利、项目、获奖四类公开样本。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本轮只证明小样本可得性；教师与管理员没有真实访谈。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00550" y="1381125"/>
            <a:ext cx="3381375" cy="38576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381125"/>
            <a:ext cx="57150" cy="38576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10100" y="150495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SRS V1.1 设计范围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1924050"/>
            <a:ext cx="29718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本期设计论文、专利、项目、获奖、软著、课程材料和未发表手稿七类。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手稿仅按授权登记，不从公开网页采集；其他类型也须逐件核来源与权限。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34350" y="1381125"/>
            <a:ext cx="3381375" cy="38576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34350" y="1381125"/>
            <a:ext cx="57150" cy="38576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43900" y="150495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 组模型裁定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1924050"/>
            <a:ext cx="29718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保留 UC01—UC06 六个核心用例。七类是成果类型，不是用例数量。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buNone/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FR-29 专家合作网络纳入 UC06，按 AT-17 验收。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5514975"/>
            <a:ext cx="10858500" cy="495300"/>
          </a:xfrm>
          <a:prstGeom prst="rect">
            <a:avLst/>
          </a:prstGeom>
          <a:solidFill>
            <a:srgbClr val="DDEEF2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55530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调研事实、设计范围和待业务核验的问题分别标注。验收标准已定义，不表示系统已实现。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系统边界：谁使用平台、完成什么任务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3/10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770168"/>
            <a:ext cx="7239000" cy="3832013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962900" y="1438275"/>
            <a:ext cx="3543300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62900" y="1438275"/>
            <a:ext cx="57150" cy="1943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72450" y="1562100"/>
            <a:ext cx="3133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参与者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72450" y="1981200"/>
            <a:ext cx="3133725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访客检索与查看；申请人认领本人门户；已认领学者管理成果；管理员采集与审核。外部数据源辅助 UC01。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62900" y="3552825"/>
            <a:ext cx="3543300" cy="22288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62900" y="3552825"/>
            <a:ext cx="57150" cy="222885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72450" y="3676650"/>
            <a:ext cx="3133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用例覆盖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72450" y="4095750"/>
            <a:ext cx="3133725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UC01 管采集　UC02 申请认领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UC03 审核认领　UC04 检索查看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UC05 管理本人已认领成果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UC06 统计及专家合作网络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门户认领：从提交证据到授予管理权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4/10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228" y="1323975"/>
            <a:ext cx="4926394" cy="463867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962900" y="1419225"/>
            <a:ext cx="3543300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62900" y="1419225"/>
            <a:ext cx="57150" cy="242887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72450" y="1543050"/>
            <a:ext cx="3133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主成功路径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72450" y="1962150"/>
            <a:ext cx="3133725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申请人定位本人门户并提交身份佐证。平台检查重复申请与版本；管理员核验归属、记录理由，通过后才授予目标门户管理权。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62900" y="4019550"/>
            <a:ext cx="35433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62900" y="4019550"/>
            <a:ext cx="57150" cy="17621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72450" y="4143375"/>
            <a:ext cx="3133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必须保留的分支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72450" y="4562475"/>
            <a:ext cx="31337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证据不足、同名冲突、撤回和批准后争议均留痕。门户管理权不等于对同名成果或合著成果的独占权。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两条状态机保留失败与争议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5/10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1622588"/>
            <a:ext cx="5219700" cy="3050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647923"/>
            <a:ext cx="5219700" cy="300017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47700" y="5048250"/>
            <a:ext cx="5191125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5048250"/>
            <a:ext cx="57150" cy="105727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5172075"/>
            <a:ext cx="4781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采集任务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5591175"/>
            <a:ext cx="4781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7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queued → running → succeeded/failed；最多重试 3 次。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96025" y="5048250"/>
            <a:ext cx="5191125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96025" y="5048250"/>
            <a:ext cx="57150" cy="105727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05575" y="5172075"/>
            <a:ext cx="4781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认领申请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05575" y="5591175"/>
            <a:ext cx="4781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7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submitted → verifying → approved/rejected；另有 cancelled 和 disputed。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六个用例承接 29 条功能需求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6/10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57225" y="1457325"/>
            <a:ext cx="2990850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954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用例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648075" y="1457325"/>
            <a:ext cx="6238875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733800" y="1495425"/>
            <a:ext cx="606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主要需求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886950" y="1457325"/>
            <a:ext cx="2286000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72675" y="1495425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验收入口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7225" y="1857375"/>
            <a:ext cx="29908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895475"/>
            <a:ext cx="28194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UC01 采集任务</a:t>
            </a:r>
            <a:endParaRPr sz="142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48075" y="1857375"/>
            <a:ext cx="623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33800" y="1895475"/>
            <a:ext cx="60674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FR-25/26：合法采集、清洗和更新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886950" y="1870710"/>
            <a:ext cx="2301875" cy="72961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972675" y="1895475"/>
            <a:ext cx="2114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AT-13／14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7225" y="2600325"/>
            <a:ext cx="29908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2950" y="2638425"/>
            <a:ext cx="28194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UC02／03 认领与审核</a:t>
            </a:r>
            <a:endParaRPr sz="142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48075" y="2600325"/>
            <a:ext cx="623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733800" y="2638425"/>
            <a:ext cx="60674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FR-27：门户认领、核验和授权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886950" y="2600325"/>
            <a:ext cx="2286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972675" y="2638425"/>
            <a:ext cx="2114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AT-15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7225" y="3343275"/>
            <a:ext cx="29908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381375"/>
            <a:ext cx="28194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UC04 检索查看</a:t>
            </a:r>
            <a:endParaRPr sz="142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648075" y="3343275"/>
            <a:ext cx="623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733800" y="3381375"/>
            <a:ext cx="60674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FR-13—24：检索、详情、引用与导出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886950" y="3343275"/>
            <a:ext cx="2286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972675" y="3381375"/>
            <a:ext cx="2114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AT-03／04／07／11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" y="4086225"/>
            <a:ext cx="29908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4124325"/>
            <a:ext cx="28194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UC05 本人成果管理</a:t>
            </a:r>
            <a:endParaRPr sz="142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48075" y="4086225"/>
            <a:ext cx="623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733800" y="4124325"/>
            <a:ext cx="60674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FR-01—12：登记、审核、版本和权限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886950" y="4086225"/>
            <a:ext cx="2286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972675" y="4124325"/>
            <a:ext cx="2114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AT-07—10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57225" y="4829175"/>
            <a:ext cx="29908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42950" y="4867275"/>
            <a:ext cx="28194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UC06 统计与网络</a:t>
            </a:r>
            <a:endParaRPr sz="142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648075" y="4829175"/>
            <a:ext cx="623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733800" y="4867275"/>
            <a:ext cx="60674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FR-28/29：分类统计、合作图和路径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886950" y="4829175"/>
            <a:ext cx="2286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972675" y="4867275"/>
            <a:ext cx="2114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AT-16／17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5800725"/>
            <a:ext cx="10858500" cy="495300"/>
          </a:xfrm>
          <a:prstGeom prst="rect">
            <a:avLst/>
          </a:prstGeom>
          <a:solidFill>
            <a:srgbClr val="DDEEF2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38200" y="58388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FR-01—24 来自 24 条故事；FR-25—29 补任务书必做。UC04 内的 Should/Could 功能仍按 SRS 分级。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贯穿规则：来源、权限与结果状态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7/10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28750"/>
            <a:ext cx="3371850" cy="42005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28750"/>
            <a:ext cx="57150" cy="42005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552575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成果与来源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971675"/>
            <a:ext cx="2962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七类成果使用稳定 ID；来源原值、规范值、获取时间、授权依据和核验状态分开保存。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350"/>
          </a:p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DOI、关键词可缺失；同题不同版本不能自动合并。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00550" y="1428750"/>
            <a:ext cx="3371850" cy="42005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428750"/>
            <a:ext cx="57150" cy="42005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10100" y="1552575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访问控制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1971675"/>
            <a:ext cx="2962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先构造当前用户的可读集合，再用于检索、详情、附件、导出、统计和合作图。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350"/>
          </a:p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公开范围收窄时，旧缓存和索引必须立即失效。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53400" y="1428750"/>
            <a:ext cx="3371850" cy="420052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428750"/>
            <a:ext cx="57150" cy="42005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2950" y="1552575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可观察结果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1971675"/>
            <a:ext cx="2962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区分有结果、明确零结果、查询失败、权限不足和尚未采集。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350"/>
          </a:p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合作图的“当前条件下无路径”不能解释为现实中从未合作。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5781675"/>
            <a:ext cx="10858500" cy="495300"/>
          </a:xfrm>
          <a:prstGeom prst="rect">
            <a:avLst/>
          </a:prstGeom>
          <a:solidFill>
            <a:srgbClr val="DDEEF2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58197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DR-01—09 约束数据关系；NFR-03/11/12 约束权限、许可和质量。UC04/06 共用过滤规则。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SPEC：五个模块的可验证规则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8/10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371600"/>
            <a:ext cx="2143125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425" y="1409700"/>
            <a:ext cx="1971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模块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90825" y="1371600"/>
            <a:ext cx="5219700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876550" y="140970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关键规则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10525" y="1371600"/>
            <a:ext cx="4152900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96250" y="1409700"/>
            <a:ext cx="3981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异常或验收关注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1771650"/>
            <a:ext cx="214312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33425" y="1809750"/>
            <a:ext cx="1971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清洗 ETL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90825" y="1771650"/>
            <a:ext cx="52197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876550" y="1809750"/>
            <a:ext cx="5048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逐行校验类型、日期与标识，保留原值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10525" y="1771650"/>
            <a:ext cx="4152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96250" y="180975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坏行隔离，批次分别计成功与失败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7700" y="2495550"/>
            <a:ext cx="214312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33425" y="2533650"/>
            <a:ext cx="1971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成果去重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90825" y="2495550"/>
            <a:ext cx="52197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876550" y="2533650"/>
            <a:ext cx="5048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有效 DOI 是强候选；近似题名只提示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10525" y="2495550"/>
            <a:ext cx="4152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096250" y="253365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同题不同版本不自动合并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" y="3219450"/>
            <a:ext cx="214312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3425" y="3257550"/>
            <a:ext cx="1971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学者消歧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790825" y="3219450"/>
            <a:ext cx="52197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876550" y="3257550"/>
            <a:ext cx="5048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Person 稳定 ID；同名不自动归并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10525" y="3219450"/>
            <a:ext cx="4152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096250" y="325755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人工确认、争议撤销与审计留痕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" y="3943350"/>
            <a:ext cx="214312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33425" y="3981450"/>
            <a:ext cx="1971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检索排序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790825" y="3943350"/>
            <a:ext cx="52197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876550" y="3981450"/>
            <a:ext cx="5048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先鉴权，再匹配、分面和稳定排序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10525" y="3943350"/>
            <a:ext cx="4152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96250" y="398145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零结果与查询失败分开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7700" y="4667250"/>
            <a:ext cx="214312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3425" y="4705350"/>
            <a:ext cx="1971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合作网络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790825" y="4667250"/>
            <a:ext cx="52197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876550" y="4705350"/>
            <a:ext cx="5048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共同署名构边，路径在过滤子图计算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10525" y="4667250"/>
            <a:ext cx="4152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096250" y="470535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无权节点与支撑成果不可泄露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5534025"/>
            <a:ext cx="10858500" cy="495300"/>
          </a:xfrm>
          <a:prstGeom prst="rect">
            <a:avLst/>
          </a:prstGeom>
          <a:solidFill>
            <a:srgbClr val="DDEEF2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38200" y="55721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性能仍是待测目标：1 万条元数据、20 并发、P95 ≤ 2 秒、非预期 5xx ＜ 1%（NFR-01/AT-01）。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矩形 47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追溯链：调研结论、用例、SRS 与验收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9/10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57225" y="1524000"/>
            <a:ext cx="3000375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562100"/>
            <a:ext cx="2828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调研结论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657600" y="1524000"/>
            <a:ext cx="2066925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743325" y="1562100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用例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24525" y="1524000"/>
            <a:ext cx="3286125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1562100"/>
            <a:ext cx="3114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SRS 条款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10650" y="1524000"/>
            <a:ext cx="3162300" cy="400050"/>
          </a:xfrm>
          <a:prstGeom prst="rect">
            <a:avLst/>
          </a:prstGeom>
          <a:solidFill>
            <a:srgbClr val="DDEEF2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096375" y="156210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验收检查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" y="1924050"/>
            <a:ext cx="30003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1962150"/>
            <a:ext cx="28289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R04 区分失败与零结果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57600" y="1924050"/>
            <a:ext cx="20669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743325" y="1962150"/>
            <a:ext cx="18954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UC01／04／06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24525" y="1924050"/>
            <a:ext cx="32861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810250" y="1962150"/>
            <a:ext cx="31146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FR-13／25／28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010650" y="1924050"/>
            <a:ext cx="31623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096375" y="1962150"/>
            <a:ext cx="29908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AT-12／13／16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7225" y="2743200"/>
            <a:ext cx="30003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42950" y="2781300"/>
            <a:ext cx="28289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R05 本人门户认领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657600" y="2743200"/>
            <a:ext cx="20669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743325" y="2781300"/>
            <a:ext cx="18954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UC02／03／05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24525" y="2743200"/>
            <a:ext cx="32861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810250" y="2781300"/>
            <a:ext cx="31146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FR-08／27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010650" y="2743200"/>
            <a:ext cx="31623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096375" y="2781300"/>
            <a:ext cx="29908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AT-15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" y="3562350"/>
            <a:ext cx="30003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600450"/>
            <a:ext cx="28289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R06 合法采集与更新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57600" y="3562350"/>
            <a:ext cx="20669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743325" y="3600450"/>
            <a:ext cx="18954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UC01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24525" y="3562350"/>
            <a:ext cx="32861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810250" y="3600450"/>
            <a:ext cx="31146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FR-25／26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10650" y="3562350"/>
            <a:ext cx="31623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096375" y="3600450"/>
            <a:ext cx="29908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AT-13／14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57225" y="4381500"/>
            <a:ext cx="30003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2950" y="4419600"/>
            <a:ext cx="28289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R09 统计及覆盖范围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57600" y="4381500"/>
            <a:ext cx="20669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743325" y="4419600"/>
            <a:ext cx="18954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UC06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724525" y="4381500"/>
            <a:ext cx="32861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810250" y="4419600"/>
            <a:ext cx="31146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FR-28／29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010650" y="4381500"/>
            <a:ext cx="31623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096375" y="4419600"/>
            <a:ext cx="29908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AT-16／17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66750" y="5419725"/>
            <a:ext cx="10839450" cy="838835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66750" y="5419725"/>
            <a:ext cx="57150" cy="733425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76300" y="5543550"/>
            <a:ext cx="1042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检查结论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6300" y="5905500"/>
            <a:ext cx="1042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FR-01—29 均有用例承接，AT-01—17 均有追溯入口。这里展示设计映射，尚无测试通过记录。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90550" y="323850"/>
            <a:ext cx="1101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02A4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已交付的设计与仍需核实的业务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3810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1101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6278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2 需求建模   10/10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3371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38275"/>
            <a:ext cx="57150" cy="390525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562100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设计交付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981200"/>
            <a:ext cx="2962275" cy="3228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SRS V1.1、SPEC V1.1、六份用例规约、24 条用户故事和追溯矩阵。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SPEC 的 18 条规范—代码对应均标为待实现；另备可编辑模型工程及对应导出图。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00550" y="1438275"/>
            <a:ext cx="3371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438275"/>
            <a:ext cx="57150" cy="390525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10100" y="1562100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 使用与责任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1981200"/>
            <a:ext cx="2962275" cy="3228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 辅助整理走查材料、文案及模型工程脚本；B5 的教师/管理员诉求属于角色推演，不是访谈。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关键业务规则、图和文档由组员核对。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53400" y="1438275"/>
            <a:ext cx="3371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BBD1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438275"/>
            <a:ext cx="57150" cy="3905250"/>
          </a:xfrm>
          <a:prstGeom prst="rect">
            <a:avLst/>
          </a:prstGeom>
          <a:solidFill>
            <a:srgbClr val="2E69B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2950" y="1562100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4548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待业务与测试核验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1981200"/>
            <a:ext cx="2962275" cy="3228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教师和管理员的真实工作流程；软著、课程材料和手稿的逐件授权；数据源接入许可。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性能与业务验收尚未执行。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5619750"/>
            <a:ext cx="10858500" cy="495300"/>
          </a:xfrm>
          <a:prstGeom prst="rect">
            <a:avLst/>
          </a:prstGeom>
          <a:solidFill>
            <a:srgbClr val="DDEEF2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5657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buNone/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1F36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本次形成设计与验收基线；系统实现、目标用户确认和测试结果留待后续阶段。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2214</Words>
  <Application>WPS 演示</Application>
  <PresentationFormat>Converted Presentation</PresentationFormat>
  <Paragraphs>255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黄嘉亮</cp:lastModifiedBy>
  <cp:revision>3</cp:revision>
  <dcterms:created xsi:type="dcterms:W3CDTF">2026-10-13T13:19:47Z</dcterms:created>
  <dcterms:modified xsi:type="dcterms:W3CDTF">2026-10-13T13:19:47Z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49674B9367020B55E02FCE6AC722F9C3_42</vt:lpwstr>
  </property>
  <property fmtid="{D5CDD505-2E9C-101B-9397-08002B2CF9AE}" pid="3" name="KSOProductBuildVer">
    <vt:lpwstr>2052-12.1.29181.29181</vt:lpwstr>
  </property>
</Properties>
</file>