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/>
            <a:lvl2pPr/>
            <a:lvl3pPr/>
            <a:lvl4pPr/>
            <a:lvl5pPr/>
            <a:lvl6pPr/>
            <a:lvl7pPr/>
            <a:lvl8pPr/>
            <a:lvl9pPr/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723900" y="752475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5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《软件系统分析与设计》课程实践</a:t>
            </a:r>
            <a:endParaRPr sz="15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23900" y="1323975"/>
            <a:ext cx="1066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390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90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90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学术成果分享平台</a:t>
            </a:r>
            <a:endParaRPr sz="390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42950" y="2276475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325" b="0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325" b="0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325" b="0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 需求建模汇报</a:t>
            </a:r>
            <a:endParaRPr sz="2325" b="0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42950" y="3067050"/>
            <a:ext cx="106680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42950" y="3276600"/>
            <a:ext cx="10477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6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6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6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建模基线：B 组 SRS V1.1    成果：六个用例、SRS、SPEC 与可编辑模型工程</a:t>
            </a:r>
            <a:endParaRPr sz="16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42950" y="407670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小组名称：_</a:t>
            </a:r>
            <a:r>
              <a:rPr lang="zh-CN"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请输入文本</a:t>
            </a: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_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45148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753100"/>
            <a:ext cx="10477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2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2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75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2026 年 10 月 13 日</a:t>
            </a:r>
            <a:endParaRPr sz="1275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基线与范围裁定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2/10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66750" y="1381125"/>
            <a:ext cx="3381375" cy="385762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66750" y="1381125"/>
            <a:ext cx="57150" cy="38576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150495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调研输入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924050"/>
            <a:ext cx="297180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作业1完成论文、专利、项目、获奖四类公开样本走查。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500"/>
          </a:p>
          <a:p>
            <a: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证据只说明本轮样本的可得性；教师与管理员没有真实访谈。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400550" y="1381125"/>
            <a:ext cx="3381375" cy="385762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4400550" y="1381125"/>
            <a:ext cx="57150" cy="38576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610100" y="150495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B 组 SRS V1.1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924050"/>
            <a:ext cx="297180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本期设计七类成果：在上述四类之外纳入软著、课程材料、未发表手稿。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500"/>
          </a:p>
          <a:p>
            <a: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未发表手稿只能按授权登记，不从公开网页采集。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134350" y="1381125"/>
            <a:ext cx="3381375" cy="385762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134350" y="1381125"/>
            <a:ext cx="57150" cy="38576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343900" y="150495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 组模型裁定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924050"/>
            <a:ext cx="2971800" cy="3181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保留 UC01—UC06 六个核心用例。七类是成果类型，不是用例数量。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500"/>
          </a:p>
          <a:p>
            <a:pPr>
              <a:def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50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FR-29 专家合作网络纳入 UC06，按 AT-17 验收。</a:t>
            </a:r>
            <a:endParaRPr sz="150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6750" y="5514975"/>
            <a:ext cx="10858500" cy="495300"/>
          </a:xfrm>
          <a:prstGeom prst="rect">
            <a:avLst/>
          </a:prstGeom>
          <a:solidFill>
            <a:srgbClr val="EAF1F8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38200" y="5553075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统一口径：调研事实、设计范围与待验证事项分别标注，设计目标不写成已取得的数据或测试结果。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系统边界、参与者与六个用例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3/10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925" y="1770168"/>
            <a:ext cx="7239000" cy="3832013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962900" y="1438275"/>
            <a:ext cx="3543300" cy="19431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962900" y="1438275"/>
            <a:ext cx="57150" cy="1943100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172450" y="1562100"/>
            <a:ext cx="31337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参与者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172450" y="1981200"/>
            <a:ext cx="3133725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访客、科研人员申请人、已认领学者、平台管理员；外部数据源仅辅助 UC01。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962900" y="3552825"/>
            <a:ext cx="3543300" cy="22288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962900" y="3552825"/>
            <a:ext cx="57150" cy="2228850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172450" y="3676650"/>
            <a:ext cx="31337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用例覆盖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172450" y="4095750"/>
            <a:ext cx="3133725" cy="1552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UC01 采集任务   UC02 申请认领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UC03 审核认领   UC04 检索查看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UC05 本人成果管理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UC06 统计与专家合作网络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门户认领：申请、核验、授权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4/10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228" y="1323975"/>
            <a:ext cx="4926394" cy="4638675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962900" y="1419225"/>
            <a:ext cx="3543300" cy="242887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962900" y="1419225"/>
            <a:ext cx="57150" cy="242887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172450" y="1543050"/>
            <a:ext cx="31337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主成功路径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172450" y="1962150"/>
            <a:ext cx="3133725" cy="175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申请人定位本人门户并提交证据；系统检查重复申请与版本；管理员核验归属、记录理由；批准后授予目标门户管理权。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962900" y="4019550"/>
            <a:ext cx="35433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962900" y="4019550"/>
            <a:ext cx="57150" cy="17621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172450" y="4143375"/>
            <a:ext cx="31337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必须保留的分支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172450" y="4562475"/>
            <a:ext cx="3133725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证据不足、同名冲突、撤回或争议均留痕。认领门户不自动取得全部同名成果的所有权。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状态模型：失败与争议可追踪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5/10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075" y="1622588"/>
            <a:ext cx="5219700" cy="30508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1647923"/>
            <a:ext cx="5219700" cy="3000179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47700" y="5048250"/>
            <a:ext cx="5191125" cy="105727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47700" y="5048250"/>
            <a:ext cx="57150" cy="105727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57250" y="5172075"/>
            <a:ext cx="4781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采集任务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57250" y="5591175"/>
            <a:ext cx="47815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queued → running → succeeded／failed；失败最多重试 3 次，停止与部分成功单独记录。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296025" y="5048250"/>
            <a:ext cx="5191125" cy="105727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296025" y="5048250"/>
            <a:ext cx="57150" cy="105727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505575" y="5172075"/>
            <a:ext cx="4781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认领申请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505575" y="5591175"/>
            <a:ext cx="47815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submitted → verifying → approved／rejected；允许 cancelled，批准后争议可进入 disputed。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矩形 41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六个用例如何覆盖 SRS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6/10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57225" y="1457325"/>
            <a:ext cx="2990850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42950" y="1495425"/>
            <a:ext cx="2819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用例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648075" y="1457325"/>
            <a:ext cx="6238875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3733800" y="1495425"/>
            <a:ext cx="60674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主要需求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886950" y="1457325"/>
            <a:ext cx="2286000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972675" y="1495425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验收入口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57225" y="1857375"/>
            <a:ext cx="29908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42950" y="1895475"/>
            <a:ext cx="28194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UC01 采集任务</a:t>
            </a:r>
            <a:endParaRPr sz="142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648075" y="1857375"/>
            <a:ext cx="6238875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3733800" y="1895475"/>
            <a:ext cx="6067425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FR-25／26：合法采集、清洗入库与更新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886950" y="1870710"/>
            <a:ext cx="2301875" cy="72961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972675" y="1895475"/>
            <a:ext cx="211455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AT-13／14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57225" y="2600325"/>
            <a:ext cx="29908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42950" y="2638425"/>
            <a:ext cx="28194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UC02／03 认领与审核</a:t>
            </a:r>
            <a:endParaRPr sz="142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648075" y="2600325"/>
            <a:ext cx="6238875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3733800" y="2638425"/>
            <a:ext cx="6067425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FR-27：门户认领、核验与权限授予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886950" y="2600325"/>
            <a:ext cx="22860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972675" y="2638425"/>
            <a:ext cx="211455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AT-15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57225" y="3343275"/>
            <a:ext cx="29908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42950" y="3381375"/>
            <a:ext cx="28194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UC04 检索查看</a:t>
            </a:r>
            <a:endParaRPr sz="142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648075" y="3343275"/>
            <a:ext cx="6238875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3733800" y="3381375"/>
            <a:ext cx="6067425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FR-13—24：检索、详情、引用与导出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886950" y="3343275"/>
            <a:ext cx="22860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972675" y="3381375"/>
            <a:ext cx="211455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AT-03／04／07／11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57225" y="4086225"/>
            <a:ext cx="29908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42950" y="4124325"/>
            <a:ext cx="28194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UC05 本人成果管理</a:t>
            </a:r>
            <a:endParaRPr sz="142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3648075" y="4086225"/>
            <a:ext cx="6238875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3733800" y="4124325"/>
            <a:ext cx="6067425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FR-01—12：登记、版本、审核与权限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886950" y="4086225"/>
            <a:ext cx="22860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972675" y="4124325"/>
            <a:ext cx="211455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AT-07—10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57225" y="4829175"/>
            <a:ext cx="29908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42950" y="4867275"/>
            <a:ext cx="281940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UC06 统计与网络</a:t>
            </a:r>
            <a:endParaRPr sz="142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3648075" y="4829175"/>
            <a:ext cx="6238875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3733800" y="4867275"/>
            <a:ext cx="6067425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FR-28／29：分类统计、合作图与路径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886950" y="4829175"/>
            <a:ext cx="22860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9972675" y="4867275"/>
            <a:ext cx="2114550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AT-16／17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666750" y="5800725"/>
            <a:ext cx="10858500" cy="495300"/>
          </a:xfrm>
          <a:prstGeom prst="rect">
            <a:avLst/>
          </a:prstGeom>
          <a:solidFill>
            <a:srgbClr val="EAF1F8"/>
          </a:solidFill>
          <a:ln w="0">
            <a:noFill/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838200" y="5838825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FR-01—24 来自 24 条用户故事；FR-25—29 补足任务书必做能力。可选故事不替代必验功能。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数据、权限与结果状态采用同一口径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7/10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1428750"/>
            <a:ext cx="3371850" cy="420052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28750"/>
            <a:ext cx="57150" cy="42005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57250" y="1552575"/>
            <a:ext cx="2962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成果与来源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57250" y="1971675"/>
            <a:ext cx="2962275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七类成果使用统一 ID 和类型字段；来源原值、规范值、获取时间、授权依据和核验状态分开保存。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350"/>
          </a:p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DOI、关键词可缺失，不能编造；同题不同版本需核对。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400550" y="1428750"/>
            <a:ext cx="3371850" cy="420052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4400550" y="1428750"/>
            <a:ext cx="57150" cy="42005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610100" y="1552575"/>
            <a:ext cx="2962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访问控制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971675"/>
            <a:ext cx="2962275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未发布、撤回及私有记录不得进入访客检索。详情、附件、导出、统计与合作图使用同一可读集合。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350"/>
          </a:p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公开范围收窄时，立即失效旧缓存和索引。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153400" y="1428750"/>
            <a:ext cx="3371850" cy="420052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153400" y="1428750"/>
            <a:ext cx="57150" cy="42005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362950" y="1552575"/>
            <a:ext cx="2962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可观察结果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62950" y="1971675"/>
            <a:ext cx="2962275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区分有结果、明确零结果、查询失败、权限不足和尚未采集。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350"/>
          </a:p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合作网络边只来自可读已发布成果的共同署名；无路径不能解释为现实中从未合作。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6750" y="5781675"/>
            <a:ext cx="10858500" cy="495300"/>
          </a:xfrm>
          <a:prstGeom prst="rect">
            <a:avLst/>
          </a:prstGeom>
          <a:solidFill>
            <a:srgbClr val="EAF1F8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38200" y="5819775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追溯：DR-01—09 定义数据与关系，NFR-03／11／12 约束权限、许可和质量；UC04／06 共用过滤规则。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矩形 41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SPEC 把核心处理写成可检查的规则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8/10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1371600"/>
            <a:ext cx="2143125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33425" y="1409700"/>
            <a:ext cx="19716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模块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790825" y="1371600"/>
            <a:ext cx="5219700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2876550" y="1409700"/>
            <a:ext cx="504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关键规则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010525" y="1371600"/>
            <a:ext cx="4152900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096250" y="1409700"/>
            <a:ext cx="3981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异常或验收关注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47700" y="1771650"/>
            <a:ext cx="2143125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33425" y="1809750"/>
            <a:ext cx="197167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清洗 ETL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790825" y="1771650"/>
            <a:ext cx="52197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2876550" y="1809750"/>
            <a:ext cx="5048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逐行校验类型、日期与标识；保留原始值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010525" y="1771650"/>
            <a:ext cx="4152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96250" y="1809750"/>
            <a:ext cx="39814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坏行隔离，不拖垮整批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47700" y="2495550"/>
            <a:ext cx="2143125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33425" y="2533650"/>
            <a:ext cx="197167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成果去重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790825" y="2495550"/>
            <a:ext cx="52197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2876550" y="2533650"/>
            <a:ext cx="5048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有效 DOI 优先；近似题名仅产候选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010525" y="2495550"/>
            <a:ext cx="4152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096250" y="2533650"/>
            <a:ext cx="39814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同题不同版本不误合并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47700" y="3219450"/>
            <a:ext cx="2143125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33425" y="3257550"/>
            <a:ext cx="197167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学者消歧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790825" y="3219450"/>
            <a:ext cx="52197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876550" y="3257550"/>
            <a:ext cx="5048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Person 稳定 ID；同名不自动归并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010525" y="3219450"/>
            <a:ext cx="4152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096250" y="3257550"/>
            <a:ext cx="39814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人工核验与回滚留痕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47700" y="3943350"/>
            <a:ext cx="2143125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33425" y="3981450"/>
            <a:ext cx="197167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检索排序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790825" y="3943350"/>
            <a:ext cx="52197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2876550" y="3981450"/>
            <a:ext cx="5048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先鉴权，再检索、统计总数与分面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010525" y="3943350"/>
            <a:ext cx="4152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096250" y="3981450"/>
            <a:ext cx="39814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零结果与查询失败分开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47700" y="4667250"/>
            <a:ext cx="2143125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33425" y="4705350"/>
            <a:ext cx="197167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合作网络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2790825" y="4667250"/>
            <a:ext cx="52197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2876550" y="4705350"/>
            <a:ext cx="5048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共同署名构边；路径在过滤子图计算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8010525" y="4667250"/>
            <a:ext cx="4152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8096250" y="4705350"/>
            <a:ext cx="39814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无权节点与边不可泄露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666750" y="5534025"/>
            <a:ext cx="10858500" cy="495300"/>
          </a:xfrm>
          <a:prstGeom prst="rect">
            <a:avLst/>
          </a:prstGeom>
          <a:solidFill>
            <a:srgbClr val="EAF1F8"/>
          </a:solidFill>
          <a:ln w="0">
            <a:noFill/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838200" y="5572125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性能指标是待测目标：1 万条元数据、20 并发、检索／详情 P95 ≤ 2 秒，非预期 5xx ＜ 1%（NFR-01／AT-01）。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矩形 47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从调研结论追溯到验收场景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9/10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57225" y="1524000"/>
            <a:ext cx="3000375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42950" y="1562100"/>
            <a:ext cx="28289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调研结论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657600" y="1524000"/>
            <a:ext cx="2066925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3743325" y="1562100"/>
            <a:ext cx="18954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用例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724525" y="1524000"/>
            <a:ext cx="3286125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810250" y="1562100"/>
            <a:ext cx="31146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SRS 条款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9010650" y="1524000"/>
            <a:ext cx="3162300" cy="400050"/>
          </a:xfrm>
          <a:prstGeom prst="rect">
            <a:avLst/>
          </a:prstGeom>
          <a:solidFill>
            <a:srgbClr val="EAF1F8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096375" y="1562100"/>
            <a:ext cx="2990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验收检查</a:t>
            </a:r>
            <a:endParaRPr sz="1350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57225" y="1924050"/>
            <a:ext cx="300037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2950" y="1962150"/>
            <a:ext cx="282892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R04 区分失败与零结果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657600" y="1924050"/>
            <a:ext cx="20669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3743325" y="1962150"/>
            <a:ext cx="18954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UC01／04／06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724525" y="1924050"/>
            <a:ext cx="32861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810250" y="1962150"/>
            <a:ext cx="31146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FR-13／25／28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010650" y="1924050"/>
            <a:ext cx="31623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096375" y="1962150"/>
            <a:ext cx="2990850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AT-12／13／16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57225" y="2743200"/>
            <a:ext cx="300037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42950" y="2781300"/>
            <a:ext cx="282892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R05 本人门户认领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657600" y="2743200"/>
            <a:ext cx="20669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3743325" y="2781300"/>
            <a:ext cx="18954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UC02／03／05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724525" y="2743200"/>
            <a:ext cx="32861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5810250" y="2781300"/>
            <a:ext cx="31146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FR-08／27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010650" y="2743200"/>
            <a:ext cx="31623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096375" y="2781300"/>
            <a:ext cx="2990850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AT-15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57225" y="3562350"/>
            <a:ext cx="300037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42950" y="3600450"/>
            <a:ext cx="282892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R06 合法采集与更新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3657600" y="3562350"/>
            <a:ext cx="20669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3743325" y="3600450"/>
            <a:ext cx="18954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UC01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724525" y="3562350"/>
            <a:ext cx="32861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5810250" y="3600450"/>
            <a:ext cx="31146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FR-25／26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9010650" y="3562350"/>
            <a:ext cx="31623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096375" y="3600450"/>
            <a:ext cx="2990850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AT-13／14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57225" y="4381500"/>
            <a:ext cx="300037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42950" y="4419600"/>
            <a:ext cx="282892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R09 统计及覆盖范围</a:t>
            </a:r>
            <a:endParaRPr sz="1350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3657600" y="4381500"/>
            <a:ext cx="20669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3743325" y="4419600"/>
            <a:ext cx="18954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UC06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724525" y="4381500"/>
            <a:ext cx="328612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5810250" y="4419600"/>
            <a:ext cx="311467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FR-28／29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9010650" y="4381500"/>
            <a:ext cx="31623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096375" y="4419600"/>
            <a:ext cx="2990850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AT-16／17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66750" y="5419725"/>
            <a:ext cx="10839450" cy="838835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666750" y="5419725"/>
            <a:ext cx="57150" cy="733425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76300" y="5543550"/>
            <a:ext cx="10429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检查结论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876300" y="5962650"/>
            <a:ext cx="10429875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50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FR-01—29 均有用例承接，AT-01—17 均有追溯入口。表中是设计映射，尚无实施测试通过记录。</a:t>
            </a:r>
            <a:endParaRPr sz="1350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590550" y="323850"/>
            <a:ext cx="11010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475" b="1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交付状态与待验证事项</a:t>
            </a:r>
            <a:endParaRPr sz="2475" b="1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90550" y="1057275"/>
            <a:ext cx="11010900" cy="19050"/>
          </a:xfrm>
          <a:prstGeom prst="rect">
            <a:avLst/>
          </a:prstGeom>
          <a:solidFill>
            <a:srgbClr val="C9D9E5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590550" y="6429375"/>
            <a:ext cx="11010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050" b="0">
                <a:solidFill>
                  <a:srgbClr val="5D7183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作业 2 需求建模   10/10</a:t>
            </a:r>
            <a:endParaRPr sz="1050" b="0">
              <a:solidFill>
                <a:srgbClr val="5D7183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1438275"/>
            <a:ext cx="337185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1438275"/>
            <a:ext cx="57150" cy="3905250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57250" y="1562100"/>
            <a:ext cx="2962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本次交付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57250" y="1981200"/>
            <a:ext cx="2962275" cy="3228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SRS V1.1、SPEC V1.1、六份用例规约、CodeArts 模型工程和导出图、24 条用户故事及追溯矩阵。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展示图与用例编号保持一致。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400550" y="1438275"/>
            <a:ext cx="337185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4400550" y="1438275"/>
            <a:ext cx="57150" cy="3905250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610100" y="1562100"/>
            <a:ext cx="2962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AI 使用边界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981200"/>
            <a:ext cx="2962275" cy="3228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AI辅助整理材料、文案和模型工程脚本。B5教师／管理员诉求属于角色推演。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endParaRPr sz="1425"/>
          </a:p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图面由CodeArts导出；关键业务规则仍须组员核对。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153400" y="1438275"/>
            <a:ext cx="337185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9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153400" y="1438275"/>
            <a:ext cx="57150" cy="3905250"/>
          </a:xfrm>
          <a:prstGeom prst="rect">
            <a:avLst/>
          </a:prstGeom>
          <a:solidFill>
            <a:srgbClr val="385E7D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362950" y="1562100"/>
            <a:ext cx="2962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725" b="1">
                <a:solidFill>
                  <a:srgbClr val="385E7D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仍需验证</a:t>
            </a:r>
            <a:endParaRPr sz="1725" b="1">
              <a:solidFill>
                <a:srgbClr val="385E7D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62950" y="1981200"/>
            <a:ext cx="2962275" cy="3228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教师与管理员真实工作流程；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软著、课程材料和手稿的逐件授权；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实际接口与批量许可；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性能和业务验收执行。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6750" y="5619750"/>
            <a:ext cx="10858500" cy="495300"/>
          </a:xfrm>
          <a:prstGeom prst="rect">
            <a:avLst/>
          </a:prstGeom>
          <a:solidFill>
            <a:srgbClr val="EAF1F8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38200" y="56578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425" b="0">
                <a:solidFill>
                  <a:srgbClr val="24364B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当前材料可用于需求建模展示；“已设计”“待业务核验”“待执行测试”三个状态在 SRS、SPEC 与用例中分开记录。</a:t>
            </a:r>
            <a:endParaRPr sz="1425" b="0">
              <a:solidFill>
                <a:srgbClr val="24364B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2193</Words>
  <Application>WPS 文字</Application>
  <PresentationFormat>Converted Presentation</PresentationFormat>
  <Paragraphs>256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宋体</vt:lpstr>
      <vt:lpstr>Wingdings</vt:lpstr>
      <vt:lpstr>Hiragino Sans GB</vt:lpstr>
      <vt:lpstr>微软雅黑</vt:lpstr>
      <vt:lpstr>汉仪旗黑</vt:lpstr>
      <vt:lpstr>宋体</vt:lpstr>
      <vt:lpstr>Arial Unicode MS</vt:lpstr>
      <vt:lpstr>宋体-简</vt:lpstr>
      <vt:lpstr>Aptos</vt:lpstr>
      <vt:lpstr>Helvetica Neue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黄嘉亮</cp:lastModifiedBy>
  <cp:revision>4</cp:revision>
  <dcterms:created xsi:type="dcterms:W3CDTF">2026-10-13T04:05:42Z</dcterms:created>
  <dcterms:modified xsi:type="dcterms:W3CDTF">2026-10-13T04:05:42Z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A1F572C72069BD46B5A2CD6AF3D61D57_42</vt:lpwstr>
  </property>
  <property fmtid="{D5CDD505-2E9C-101B-9397-08002B2CF9AE}" pid="3" name="KSOProductBuildVer">
    <vt:lpwstr>2052-12.1.29181.29181</vt:lpwstr>
  </property>
</Properties>
</file>