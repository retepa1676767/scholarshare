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a74bed81c04425" /><Relationship Type="http://schemas.openxmlformats.org/officeDocument/2006/relationships/extended-properties" Target="/docProps/app.xml" Id="R720bea6ec82a4781" /><Relationship Type="http://schemas.openxmlformats.org/officeDocument/2006/relationships/officeDocument" Target="/ppt/presentation.xml" Id="R6692956f089d43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c397472cb8480d"/>
  </p:sldMasterIdLst>
  <p:notesMasterIdLst>
    <p:notesMasterId xmlns:r="http://schemas.openxmlformats.org/officeDocument/2006/relationships" r:id="R5ed7b091d0c24d9c"/>
  </p:notesMasterIdLst>
  <p:sldIdLst>
    <p:sldId xmlns:r="http://schemas.openxmlformats.org/officeDocument/2006/relationships" id="256" r:id="R2acefdd897f644f2"/>
    <p:sldId xmlns:r="http://schemas.openxmlformats.org/officeDocument/2006/relationships" id="257" r:id="R1eb926459c964e71"/>
    <p:sldId xmlns:r="http://schemas.openxmlformats.org/officeDocument/2006/relationships" id="258" r:id="R1c58a8ad75ad4c1e"/>
    <p:sldId xmlns:r="http://schemas.openxmlformats.org/officeDocument/2006/relationships" id="259" r:id="Rca177e87f6134bf3"/>
    <p:sldId xmlns:r="http://schemas.openxmlformats.org/officeDocument/2006/relationships" id="260" r:id="R3ea54fe9af0448f7"/>
    <p:sldId xmlns:r="http://schemas.openxmlformats.org/officeDocument/2006/relationships" id="261" r:id="R76aeb627572b47ad"/>
    <p:sldId xmlns:r="http://schemas.openxmlformats.org/officeDocument/2006/relationships" id="262" r:id="Ra6338df94d0249f1"/>
    <p:sldId xmlns:r="http://schemas.openxmlformats.org/officeDocument/2006/relationships" id="263" r:id="Ree0e0ee175764d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242b79dc774163" /><Relationship Type="http://schemas.openxmlformats.org/officeDocument/2006/relationships/slideMaster" Target="/ppt/slideMasters/slideMaster1.xml" Id="Rb1c397472cb8480d" /><Relationship Type="http://schemas.openxmlformats.org/officeDocument/2006/relationships/notesMaster" Target="/ppt/notesMasters/notesMaster1.xml" Id="R5ed7b091d0c24d9c" /><Relationship Type="http://schemas.openxmlformats.org/officeDocument/2006/relationships/presProps" Target="/ppt/presProps.xml" Id="R0d38a953ea4047ab" /><Relationship Type="http://schemas.openxmlformats.org/officeDocument/2006/relationships/tableStyles" Target="/ppt/tableStyles.xml" Id="Red7c1b8e156f4e36" /><Relationship Type="http://schemas.openxmlformats.org/officeDocument/2006/relationships/slide" Target="/ppt/slides/slide1.xml" Id="R2acefdd897f644f2" /><Relationship Type="http://schemas.openxmlformats.org/officeDocument/2006/relationships/slide" Target="/ppt/slides/slide2.xml" Id="R1eb926459c964e71" /><Relationship Type="http://schemas.openxmlformats.org/officeDocument/2006/relationships/slide" Target="/ppt/slides/slide3.xml" Id="R1c58a8ad75ad4c1e" /><Relationship Type="http://schemas.openxmlformats.org/officeDocument/2006/relationships/slide" Target="/ppt/slides/slide4.xml" Id="Rca177e87f6134bf3" /><Relationship Type="http://schemas.openxmlformats.org/officeDocument/2006/relationships/slide" Target="/ppt/slides/slide5.xml" Id="R3ea54fe9af0448f7" /><Relationship Type="http://schemas.openxmlformats.org/officeDocument/2006/relationships/slide" Target="/ppt/slides/slide6.xml" Id="R76aeb627572b47ad" /><Relationship Type="http://schemas.openxmlformats.org/officeDocument/2006/relationships/slide" Target="/ppt/slides/slide7.xml" Id="Ra6338df94d0249f1" /><Relationship Type="http://schemas.openxmlformats.org/officeDocument/2006/relationships/slide" Target="/ppt/slides/slide8.xml" Id="Ree0e0ee175764d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faeddf690548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912c80e0574f4c" /><Relationship Type="http://schemas.openxmlformats.org/officeDocument/2006/relationships/notesMaster" Target="/ppt/notesMasters/notesMaster1.xml" Id="R12363e68a0da42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7abf775be14785" /><Relationship Type="http://schemas.openxmlformats.org/officeDocument/2006/relationships/notesMaster" Target="/ppt/notesMasters/notesMaster1.xml" Id="R090e70cfc7d540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781a6dd6cb4077" /><Relationship Type="http://schemas.openxmlformats.org/officeDocument/2006/relationships/notesMaster" Target="/ppt/notesMasters/notesMaster1.xml" Id="R67f855fb470243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51c9c920bc4098" /><Relationship Type="http://schemas.openxmlformats.org/officeDocument/2006/relationships/notesMaster" Target="/ppt/notesMasters/notesMaster1.xml" Id="R1096299bcb494f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c2156537bd43d2" /><Relationship Type="http://schemas.openxmlformats.org/officeDocument/2006/relationships/notesMaster" Target="/ppt/notesMasters/notesMaster1.xml" Id="Re0701e96647d4c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813e60c6064d0e" /><Relationship Type="http://schemas.openxmlformats.org/officeDocument/2006/relationships/notesMaster" Target="/ppt/notesMasters/notesMaster1.xml" Id="Rddd18975324446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59851334384417" /><Relationship Type="http://schemas.openxmlformats.org/officeDocument/2006/relationships/notesMaster" Target="/ppt/notesMasters/notesMaster1.xml" Id="R69afe85c1daa4b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fa75586efd4c40" /><Relationship Type="http://schemas.openxmlformats.org/officeDocument/2006/relationships/notesMaster" Target="/ppt/notesMasters/notesMaster1.xml" Id="R779412cec95b4f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ab599f91d24c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4a2a8f97e64a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65232ed3354f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d9e05ea4943c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ba2455bf0445f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1d85fb3e343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6372BBE-6405-45B4-92E0-E4F2BD76F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24D737-139D-47D0-BB4E-B50A218B02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3191F69-C0AF-46AE-8BA0-E456C9C947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23969E-F4D3-4B44-8C44-ABE6F8A8C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5D31C35-8B79-461B-B9D3-426B62D7C2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8045BD9-6D89-4AAE-B098-D5515A3F30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F0C356-72F0-40D9-892C-565C268AE2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23D438E-22BD-4606-A483-827C078916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E1658D-47DC-4E64-B745-E60A9F042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793133-48A3-4C0B-933C-9419823676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fab2728cee4277" /><Relationship Type="http://schemas.openxmlformats.org/officeDocument/2006/relationships/slideLayout" Target="/ppt/slideLayouts/slideLayout1.xml" Id="R246ae703b14346b5" /><Relationship Type="http://schemas.openxmlformats.org/officeDocument/2006/relationships/slideLayout" Target="/ppt/slideLayouts/slideLayout2.xml" Id="Ra84d19d6278f4a70" /><Relationship Type="http://schemas.openxmlformats.org/officeDocument/2006/relationships/slideLayout" Target="/ppt/slideLayouts/slideLayout3.xml" Id="R3dc444ba901d4765" /><Relationship Type="http://schemas.openxmlformats.org/officeDocument/2006/relationships/slideLayout" Target="/ppt/slideLayouts/slideLayout4.xml" Id="Rfd22ee18ec2f49df" /><Relationship Type="http://schemas.openxmlformats.org/officeDocument/2006/relationships/slideLayout" Target="/ppt/slideLayouts/slideLayout5.xml" Id="R7c56dba9364e4ad7" /><Relationship Type="http://schemas.openxmlformats.org/officeDocument/2006/relationships/slideLayout" Target="/ppt/slideLayouts/slideLayout6.xml" Id="R682362f1f77941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6ae703b14346b5"/>
    <p:sldLayoutId xmlns:r="http://schemas.openxmlformats.org/officeDocument/2006/relationships" id="2147483650" r:id="Ra84d19d6278f4a70"/>
    <p:sldLayoutId xmlns:r="http://schemas.openxmlformats.org/officeDocument/2006/relationships" id="2147483651" r:id="R3dc444ba901d4765"/>
    <p:sldLayoutId xmlns:r="http://schemas.openxmlformats.org/officeDocument/2006/relationships" id="2147483652" r:id="Rfd22ee18ec2f49df"/>
    <p:sldLayoutId xmlns:r="http://schemas.openxmlformats.org/officeDocument/2006/relationships" id="2147483653" r:id="R7c56dba9364e4ad7"/>
    <p:sldLayoutId xmlns:r="http://schemas.openxmlformats.org/officeDocument/2006/relationships" id="2147483654" r:id="R682362f1f77941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66e5804a03448c" /><Relationship Type="http://schemas.openxmlformats.org/officeDocument/2006/relationships/notesSlide" Target="/ppt/notesSlides/notesSlide1.xml" Id="R7de1ed9175db40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35abcb2ff490a" /><Relationship Type="http://schemas.openxmlformats.org/officeDocument/2006/relationships/notesSlide" Target="/ppt/notesSlides/notesSlide2.xml" Id="R005002a9763047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de3639366c4f2b" /><Relationship Type="http://schemas.openxmlformats.org/officeDocument/2006/relationships/notesSlide" Target="/ppt/notesSlides/notesSlide3.xml" Id="R5ec3da0d6d4844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75dbed935648cd" /><Relationship Type="http://schemas.openxmlformats.org/officeDocument/2006/relationships/image" Target="/ppt/media/image.png" Id="Rdf92bf9a633c4bb0" /><Relationship Type="http://schemas.openxmlformats.org/officeDocument/2006/relationships/notesSlide" Target="/ppt/notesSlides/notesSlide4.xml" Id="R8927b9acbb944f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d675e5585a4a5e" /><Relationship Type="http://schemas.openxmlformats.org/officeDocument/2006/relationships/notesSlide" Target="/ppt/notesSlides/notesSlide5.xml" Id="R4291327904314a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c084d88ffa48a1" /><Relationship Type="http://schemas.openxmlformats.org/officeDocument/2006/relationships/notesSlide" Target="/ppt/notesSlides/notesSlide6.xml" Id="Rdf4d5c2dbf6d4d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b0547ebc5d4ee2" /><Relationship Type="http://schemas.openxmlformats.org/officeDocument/2006/relationships/notesSlide" Target="/ppt/notesSlides/notesSlide7.xml" Id="Rd885ea947b1146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9bdce7f6c4444" /><Relationship Type="http://schemas.openxmlformats.org/officeDocument/2006/relationships/notesSlide" Target="/ppt/notesSlides/notesSlide8.xml" Id="R8e13981268e540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B3DEB-E872-423F-B084-C5B427F4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《软件系统分析与设计》课程实践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23B69-0237-472E-B3C9-7F3E469E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975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3975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75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学术成果分享平台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19BEA-ADEE-4B5F-AA55-8D5833A3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325" b="0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作业 1 需求调研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D5BC0-EBF8-48C3-B2B0-7C0E51D2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系统名称：学术成果分享平台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237F7-6284-4D1B-8380-500C7A8F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小组编号：________    小组名称：________________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EEC29-BB98-423B-B96E-24A771DF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联系人：________    汇报成员：________________（10 人名单见文档封面）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3B729-515A-4D27-8720-83B99C7B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007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需求调研汇报 · 2026 年 10 月 13 日</a:t>
            </a:r>
          </a:p>
        </p:txBody>
      </p:sp>
    </p:spTree>
    <p:extLst>
      <p:ext uri="{BB962C8B-B14F-4D97-AF65-F5344CB8AC3E}">
        <p14:creationId xmlns:p14="http://schemas.microsoft.com/office/powerpoint/2010/main" val="2168067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288E3-85EE-4907-9F07-2FC35FA8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调研目标、对象与安排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6B2EC-95F5-4E5C-A82D-2C7AFC45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9CC20F-DDBD-4F8E-89CA-812C61EC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2/8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543683-C341-46B6-B1CD-3C471D97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调研目标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0DF16-56F7-41FF-8026-67D289FC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95475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核对成果查找、来源可信度、门户认领与审核的实际问题；形成可复核的需求边界。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2C27B-6F1C-4C09-B12A-BC0DCA8F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三类对象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2B3BA-911E-4339-BC4F-ECCFE7DF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普通用户／学生：20 份问卷；科研人员／教师、平台管理员：访谈提纲已设计，尚无真实受访者。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F8FBA5-3132-4079-8143-E91ECFA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时间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FF09-B152-4488-BC7D-E274EAE5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10 月 9—12 日：问卷、任务走查、竞品与存量抽样；10 月 13 日：开放源、跨类型样本、分类与许可复核。</a:t>
            </a:r>
          </a:p>
        </p:txBody>
      </p:sp>
    </p:spTree>
    <p:extLst>
      <p:ext uri="{BB962C8B-B14F-4D97-AF65-F5344CB8AC3E}">
        <p14:creationId xmlns:p14="http://schemas.microsoft.com/office/powerpoint/2010/main" val="15372267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89C845-02A8-4428-B425-06426760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调研方法与执行证据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1811B-77D3-40B3-80D2-1193D32A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3E1706-1979-4B05-8B0B-C457DF9D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3/8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8AE2D-512A-4774-BB52-9F7B9E27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A 组一手走查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67B4E-0B89-43AF-8604-6DC466A0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0482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在线问卷 n=20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知网、学院官网和课题组任务走查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原始截图、检索条件和导出文件留存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反复出现“请稍后重试”记为检索失败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C543F6-B892-497B-AC65-2063D17A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B 组桌面研究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BAE03-01D6-48CB-A3DD-F46B5FA4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9530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七渠道竞品矩阵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知网指定机构查询 456 条，抽样 20 条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角色推演仅为待验证问题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未登录功能标记“未知”</a:t>
            </a:r>
          </a:p>
        </p:txBody>
      </p:sp>
    </p:spTree>
    <p:extLst>
      <p:ext uri="{BB962C8B-B14F-4D97-AF65-F5344CB8AC3E}">
        <p14:creationId xmlns:p14="http://schemas.microsoft.com/office/powerpoint/2010/main" val="196335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C4A7A-A16F-4E1E-9859-8F73034C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学生问卷与任务走查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57A39-1641-4B08-B8AA-24B026E9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2C435-D629-4B1B-8B7F-53E3294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4/8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8ADD1-7504-4112-8B06-16DA274522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92bf9a633c4bb0"/>
          <a:stretch xmlns:a="http://schemas.openxmlformats.org/drawingml/2006/main"/>
        </p:blipFill>
        <p:spPr>
          <a:xfrm xmlns:a="http://schemas.openxmlformats.org/drawingml/2006/main">
            <a:off x="590550" y="1970290"/>
            <a:ext cx="6191250" cy="336509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65C59-0538-401A-952B-680769F4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811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普通用户证据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E829F-70EB-4D48-BDF5-B17C0C52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24075"/>
            <a:ext cx="400050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20 份答卷：文献检索与下载均值 4.10 分，样本以本科生为主。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SANER 论文跨渠道走查：官网和课题组可核题名、作者及奖项；知网指定查询反复失败。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结论只适用于本次样本与检索条件。</a:t>
            </a:r>
          </a:p>
        </p:txBody>
      </p:sp>
    </p:spTree>
    <p:extLst>
      <p:ext uri="{BB962C8B-B14F-4D97-AF65-F5344CB8AC3E}">
        <p14:creationId xmlns:p14="http://schemas.microsoft.com/office/powerpoint/2010/main" val="12683522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FA689-783C-4A1D-89EB-C54CCB7B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公开来源小样本实测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38391D-4E5F-4411-B04F-90636C3A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EB86D-15F2-44FB-AEE4-106C5661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5/8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0031C-E2E3-4EF1-A5B9-32BC5431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5732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论文题录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4A039-049B-465B-A952-59A15181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五条已知 DOI 在 OpenAlex 均取回基本元数据；DBLP 同题均命中，其中一题有两条记录，需区分发表版本。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40A884-364A-41B0-8DB2-B20C4622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4322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其他成果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39D1B-CBF7-44E1-AB87-F52951C5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三件专利可核公布号与申请号；三项项目、三项获奖可查公开页面，但项目编号、期限和奖项证据等级并不齐全。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D8974-B32E-4D97-992A-EFF01B95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关键缺口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E4950-8B22-442A-8477-146E761B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现任教师身份不能反推早年专利的学院归属；第三方专利页不能替代官方法律状态。小样本不用于估计总体覆盖率。</a:t>
            </a:r>
          </a:p>
        </p:txBody>
      </p:sp>
    </p:spTree>
    <p:extLst>
      <p:ext uri="{BB962C8B-B14F-4D97-AF65-F5344CB8AC3E}">
        <p14:creationId xmlns:p14="http://schemas.microsoft.com/office/powerpoint/2010/main" val="670357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E6EE9-B9D2-468A-AD4C-ACC61AC9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领域分类与来源许可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0ADF8-A858-4B38-AAC9-69364615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108FB-AC13-499C-8962-2AE57EB0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6/8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FE77E-4FDD-48CB-BC0B-84B0AEC7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领域分类试标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A7C32-7FC7-4C53-9389-852AFBE6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0482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成果类型与研究领域分开建模。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一级参考教育部学科目录；二级采用学院／课题组公开方向；三级使用受控主题词。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十条样本试标，部分跨学科，因此允许多标签并保留复核状态。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FDD88-6705-4EA0-9233-3C9EBF4D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逐源合规结论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6DEDA-3393-498D-BFA7-8B4AADBA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9530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OpenAlex／DBLP 元数据许可与论文全文许可分别判断。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知网仅人工核对和合法单条导出。国家知识产权局、学院与会议站点的批量获取许可仍待确认。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记录来源、获取时间、原值和授权依据。</a:t>
            </a:r>
          </a:p>
        </p:txBody>
      </p:sp>
    </p:spTree>
    <p:extLst>
      <p:ext uri="{BB962C8B-B14F-4D97-AF65-F5344CB8AC3E}">
        <p14:creationId xmlns:p14="http://schemas.microsoft.com/office/powerpoint/2010/main" val="428312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CF76B-049C-4F2D-887D-275904BE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需求归纳与作业 2 的范围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32C48-D374-441A-AFE8-969E8687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4B122-0564-4C3F-8991-2BCB0867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7/8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B387C-F4AB-40DC-B9AC-B1EB919D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由调研支持的需求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213EC-4322-4567-A096-FD4EE5BA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0482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R02 组合检索与条件回显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R03 来源与核验状态留痕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R04 区分零结果、失败和未采集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R06 合法采集、清洗与更新</a:t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R08 允许 DOI／关键词缺失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BA48CD-8772-48DA-9EF0-9B0ED9C8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设计范围的说明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0226C-5F7D-4895-A7F1-072F5127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9530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作业 1 实测四类公开成果。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作业 2 依 B 组 SRS 设计七类成果，并把专家合作网络列为首期必验创新。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七类能力不等于七类均已有真实样本；创新偏好尚未由真实访谈确认。</a:t>
            </a:r>
          </a:p>
        </p:txBody>
      </p:sp>
    </p:spTree>
    <p:extLst>
      <p:ext uri="{BB962C8B-B14F-4D97-AF65-F5344CB8AC3E}">
        <p14:creationId xmlns:p14="http://schemas.microsoft.com/office/powerpoint/2010/main" val="18255485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683B7A-939C-46BA-A677-7D028265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101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局限与下一轮核验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EE970-D21E-492D-8BD1-0738010D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9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552E9-C2B9-47CA-9B25-36992443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29375"/>
            <a:ext cx="1101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5D7183"/>
                </a:solidFill>
                <a:latin typeface="Hiragino Sans GB"/>
                <a:ea typeface="Hiragino Sans GB"/>
                <a:cs typeface="Hiragino Sans GB"/>
              </a:rPr>
              <a:t>作业 1 需求调研     8/8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01291-8FE0-4C18-B9DF-4DAF2116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已完成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1A4E2-4099-40D1-8CB6-EB4A9DF4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问卷、任务走查、七渠道比较、存量抽样、开放源及多类型公开样本、十条领域试标和逐源合规判断。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4154C-1B36-458A-B730-E563CFB7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仍待验证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413D3-1CC8-4608-A6F9-8C83FBB2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教师与管理员真实工作流程；软著逐件登记号、课程材料公开授权；项目正式状态、专利法律状态和批量接口许可。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36A411-A191-4E5A-9BEA-CAA21C6C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85E7D"/>
                </a:solidFill>
                <a:latin typeface="Hiragino Sans GB"/>
                <a:ea typeface="Hiragino Sans GB"/>
                <a:cs typeface="Hiragino Sans GB"/>
              </a:rPr>
              <a:t>报告使用方式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1BB50-EB22-46B2-8B33-073298B6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863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4364B"/>
                </a:solidFill>
                <a:latin typeface="Hiragino Sans GB"/>
                <a:ea typeface="Hiragino Sans GB"/>
                <a:cs typeface="Hiragino Sans GB"/>
              </a:rPr>
              <a:t>调研报告记录实测与推演边界；数据源清单和补充记录保留可复核链接。后续用例与 SRS 按已确认的 B 组基线设计。</a:t>
            </a:r>
          </a:p>
        </p:txBody>
      </p:sp>
    </p:spTree>
    <p:extLst>
      <p:ext uri="{BB962C8B-B14F-4D97-AF65-F5344CB8AC3E}">
        <p14:creationId xmlns:p14="http://schemas.microsoft.com/office/powerpoint/2010/main" val="1928139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2026-10-13T02:37:09.2120000Z</dcterms:created>
  <dcterms:modified xsi:type="dcterms:W3CDTF">2026-10-13T02:37:09.2120000Z</dcterms:modified>
</coreProperties>
</file>