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  <p:sp>
        <p:nvSpPr>
          <p:cNvPr id="2" name="Subtitle"/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/>
      <p:sp>
        <p:nvSpPr>
          <p:cNvPr id="2" name="Section title"/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  <p:sp>
        <p:nvSpPr>
          <p:cNvPr id="2" name="Body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/>
      <p:sp>
        <p:nvSpPr>
          <p:cNvPr id="4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  <p:sp>
        <p:nvSpPr>
          <p:cNvPr id="3" name="Right column"/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矩形 8"/>
          <p:cNvSpPr>
            <a:spLocks noGrp="1"/>
          </p:cNvSpPr>
          <p:nvPr/>
        </p:nvSpPr>
        <p:spPr>
          <a:xfrm>
            <a:off x="723900" y="733425"/>
            <a:ext cx="10668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575" b="0">
                <a:solidFill>
                  <a:srgbClr val="5D7183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defRPr sz="1575" b="0">
                <a:solidFill>
                  <a:srgbClr val="5D7183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575" b="0">
                <a:solidFill>
                  <a:srgbClr val="5D7183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《软件系统分析与设计》课程实践</a:t>
            </a:r>
            <a:endParaRPr sz="1575" b="0">
              <a:solidFill>
                <a:srgbClr val="5D7183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723900" y="1304925"/>
            <a:ext cx="106680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3975" b="1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defRPr sz="3975" b="1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3975" b="1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学术成果分享平台</a:t>
            </a:r>
            <a:endParaRPr sz="3975" b="1">
              <a:solidFill>
                <a:srgbClr val="24364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742950" y="2266950"/>
            <a:ext cx="10668000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2325" b="0">
                <a:solidFill>
                  <a:srgbClr val="385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defRPr sz="2325" b="0">
                <a:solidFill>
                  <a:srgbClr val="385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325" b="0">
                <a:solidFill>
                  <a:srgbClr val="385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作业 1  需求调研汇报</a:t>
            </a:r>
            <a:endParaRPr sz="2325" b="0">
              <a:solidFill>
                <a:srgbClr val="385E7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742950" y="3067050"/>
            <a:ext cx="10668000" cy="19050"/>
          </a:xfrm>
          <a:prstGeom prst="rect">
            <a:avLst/>
          </a:prstGeom>
          <a:solidFill>
            <a:srgbClr val="C9D9E5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742950" y="3314700"/>
            <a:ext cx="10477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650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defRPr sz="1650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650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普通用户问卷、任务走查、公开数据源与跨类型样本</a:t>
            </a:r>
            <a:endParaRPr sz="1650" b="0">
              <a:solidFill>
                <a:srgbClr val="24364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742950" y="4057650"/>
            <a:ext cx="1047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500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defRPr sz="1500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500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小组名称：___</a:t>
            </a:r>
            <a:r>
              <a:rPr lang="zh-CN" sz="1500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请输入文本</a:t>
            </a:r>
            <a:r>
              <a:rPr sz="1500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___</a:t>
            </a:r>
            <a:endParaRPr sz="1500" b="0">
              <a:solidFill>
                <a:srgbClr val="24364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42950" y="4495800"/>
            <a:ext cx="1047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425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defRPr sz="1425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endParaRPr sz="1425" b="0">
              <a:solidFill>
                <a:srgbClr val="24364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42950" y="5762625"/>
            <a:ext cx="104775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275" b="0">
                <a:solidFill>
                  <a:srgbClr val="5D7183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defRPr sz="1275" b="0">
                <a:solidFill>
                  <a:srgbClr val="5D7183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75" b="0">
                <a:solidFill>
                  <a:srgbClr val="5D7183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2026 年 10 月 13 日</a:t>
            </a:r>
            <a:endParaRPr sz="1275" b="0">
              <a:solidFill>
                <a:srgbClr val="5D7183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5" name="矩形 34"/>
          <p:cNvSpPr>
            <a:spLocks noGrp="1"/>
          </p:cNvSpPr>
          <p:nvPr/>
        </p:nvSpPr>
        <p:spPr>
          <a:xfrm>
            <a:off x="590550" y="304800"/>
            <a:ext cx="11010900" cy="676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2475" b="1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defRPr sz="2475" b="1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475" b="1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调研方案：目标、对象与时间</a:t>
            </a:r>
            <a:endParaRPr sz="2475" b="1">
              <a:solidFill>
                <a:srgbClr val="24364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90550" y="1057275"/>
            <a:ext cx="11010900" cy="19050"/>
          </a:xfrm>
          <a:prstGeom prst="rect">
            <a:avLst/>
          </a:prstGeom>
          <a:solidFill>
            <a:srgbClr val="C9D9E5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590550" y="6429375"/>
            <a:ext cx="2286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050" b="0">
                <a:solidFill>
                  <a:srgbClr val="5D7183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defRPr sz="1050" b="0">
                <a:solidFill>
                  <a:srgbClr val="5D7183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50" b="0">
                <a:solidFill>
                  <a:srgbClr val="5D7183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需求调研  2/10</a:t>
            </a:r>
            <a:endParaRPr sz="1050" b="0">
              <a:solidFill>
                <a:srgbClr val="5D7183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3009900" y="6429375"/>
            <a:ext cx="85344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975" b="0">
                <a:solidFill>
                  <a:srgbClr val="5D7183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defRPr sz="975" b="0">
                <a:solidFill>
                  <a:srgbClr val="5D7183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975" b="0">
                <a:solidFill>
                  <a:srgbClr val="5D7183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依据：需求调研报告 §1.1—1.4</a:t>
            </a:r>
            <a:endParaRPr sz="975" b="0">
              <a:solidFill>
                <a:srgbClr val="5D7183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47700" y="1428750"/>
            <a:ext cx="3371850" cy="20002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9E5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647700" y="1428750"/>
            <a:ext cx="57150" cy="2000250"/>
          </a:xfrm>
          <a:prstGeom prst="rect">
            <a:avLst/>
          </a:prstGeom>
          <a:solidFill>
            <a:srgbClr val="385E7D"/>
          </a:solidFill>
          <a:ln w="0">
            <a:noFill/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838200" y="1552575"/>
            <a:ext cx="29908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725" b="1">
                <a:solidFill>
                  <a:srgbClr val="385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defRPr sz="1725" b="1">
                <a:solidFill>
                  <a:srgbClr val="385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25" b="1">
                <a:solidFill>
                  <a:srgbClr val="385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目标</a:t>
            </a:r>
            <a:endParaRPr sz="1725" b="1">
              <a:solidFill>
                <a:srgbClr val="385E7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38200" y="1981200"/>
            <a:ext cx="2990850" cy="1304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1425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defRPr sz="1425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425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识别成果查找、来源可信度、门户认领与审核中的真实问题，形成有证据边界的需求。</a:t>
            </a:r>
            <a:endParaRPr sz="1425" b="0">
              <a:solidFill>
                <a:srgbClr val="24364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4410075" y="1428750"/>
            <a:ext cx="3371850" cy="20002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9E5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4410075" y="1428750"/>
            <a:ext cx="57150" cy="2000250"/>
          </a:xfrm>
          <a:prstGeom prst="rect">
            <a:avLst/>
          </a:prstGeom>
          <a:solidFill>
            <a:srgbClr val="385E7D"/>
          </a:solidFill>
          <a:ln w="0">
            <a:noFill/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4600575" y="1552575"/>
            <a:ext cx="29908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725" b="1">
                <a:solidFill>
                  <a:srgbClr val="385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defRPr sz="1725" b="1">
                <a:solidFill>
                  <a:srgbClr val="385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25" b="1">
                <a:solidFill>
                  <a:srgbClr val="385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对象</a:t>
            </a:r>
            <a:endParaRPr sz="1725" b="1">
              <a:solidFill>
                <a:srgbClr val="385E7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4600575" y="1981200"/>
            <a:ext cx="2990850" cy="1304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1425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defRPr sz="1425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425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普通用户／学生取得20份问卷。科研人员／教师、平台管理员设计了访谈提纲，尚未取得真实访谈。</a:t>
            </a:r>
            <a:endParaRPr sz="1425" b="0">
              <a:solidFill>
                <a:srgbClr val="24364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172450" y="1428750"/>
            <a:ext cx="3371850" cy="20002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9E5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8172450" y="1428750"/>
            <a:ext cx="57150" cy="2000250"/>
          </a:xfrm>
          <a:prstGeom prst="rect">
            <a:avLst/>
          </a:prstGeom>
          <a:solidFill>
            <a:srgbClr val="385E7D"/>
          </a:solidFill>
          <a:ln w="0">
            <a:noFill/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8362950" y="1552575"/>
            <a:ext cx="29908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725" b="1">
                <a:solidFill>
                  <a:srgbClr val="385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defRPr sz="1725" b="1">
                <a:solidFill>
                  <a:srgbClr val="385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25" b="1">
                <a:solidFill>
                  <a:srgbClr val="385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方法</a:t>
            </a:r>
            <a:endParaRPr sz="1725" b="1">
              <a:solidFill>
                <a:srgbClr val="385E7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8362950" y="1981200"/>
            <a:ext cx="2990850" cy="1304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1425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defRPr sz="1425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425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背景资料研读、数据源走查、同类平台比较、问卷与任务观察、半结构访谈提纲设计。</a:t>
            </a:r>
            <a:endParaRPr sz="1425" b="0">
              <a:solidFill>
                <a:srgbClr val="24364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66750" y="3676650"/>
            <a:ext cx="1895475" cy="400050"/>
          </a:xfrm>
          <a:prstGeom prst="rect">
            <a:avLst/>
          </a:prstGeom>
          <a:solidFill>
            <a:srgbClr val="EAF1F8"/>
          </a:solidFill>
          <a:ln w="9525">
            <a:solidFill>
              <a:srgbClr val="C9D9E5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752475" y="3714750"/>
            <a:ext cx="17240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350" b="1">
                <a:solidFill>
                  <a:srgbClr val="385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defRPr sz="1350" b="1">
                <a:solidFill>
                  <a:srgbClr val="385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lang="zh-CN" sz="1350" b="1">
                <a:solidFill>
                  <a:srgbClr val="385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阶段</a:t>
            </a:r>
            <a:endParaRPr lang="zh-CN" sz="1350" b="1">
              <a:solidFill>
                <a:srgbClr val="385E7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2562225" y="3676650"/>
            <a:ext cx="5448300" cy="400050"/>
          </a:xfrm>
          <a:prstGeom prst="rect">
            <a:avLst/>
          </a:prstGeom>
          <a:solidFill>
            <a:srgbClr val="EAF1F8"/>
          </a:solidFill>
          <a:ln w="9525">
            <a:solidFill>
              <a:srgbClr val="C9D9E5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2647950" y="3714750"/>
            <a:ext cx="5276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350" b="1">
                <a:solidFill>
                  <a:srgbClr val="385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defRPr sz="1350" b="1">
                <a:solidFill>
                  <a:srgbClr val="385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50" b="1">
                <a:solidFill>
                  <a:srgbClr val="385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执行内容</a:t>
            </a:r>
            <a:endParaRPr sz="1350" b="1">
              <a:solidFill>
                <a:srgbClr val="385E7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8010525" y="3676650"/>
            <a:ext cx="4181475" cy="400050"/>
          </a:xfrm>
          <a:prstGeom prst="rect">
            <a:avLst/>
          </a:prstGeom>
          <a:solidFill>
            <a:srgbClr val="EAF1F8"/>
          </a:solidFill>
          <a:ln w="9525">
            <a:solidFill>
              <a:srgbClr val="C9D9E5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8096250" y="3714750"/>
            <a:ext cx="40100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350" b="1">
                <a:solidFill>
                  <a:srgbClr val="385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defRPr sz="1350" b="1">
                <a:solidFill>
                  <a:srgbClr val="385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50" b="1">
                <a:solidFill>
                  <a:srgbClr val="385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留存证据</a:t>
            </a:r>
            <a:endParaRPr sz="1350" b="1">
              <a:solidFill>
                <a:srgbClr val="385E7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66750" y="4076700"/>
            <a:ext cx="1895475" cy="8572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9E5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752475" y="4114800"/>
            <a:ext cx="1724025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350" b="1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defRPr sz="1350" b="1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lang="zh-CN" sz="1350" b="1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第一阶段</a:t>
            </a:r>
            <a:endParaRPr lang="zh-CN" sz="1350" b="1">
              <a:solidFill>
                <a:srgbClr val="24364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2562225" y="4076700"/>
            <a:ext cx="5448300" cy="8572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9E5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2647950" y="4114800"/>
            <a:ext cx="52768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350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defRPr sz="1350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50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问卷、知网任务走查、七渠道竞品比较与存量抽样</a:t>
            </a:r>
            <a:endParaRPr sz="1350" b="0">
              <a:solidFill>
                <a:srgbClr val="24364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8010525" y="4076700"/>
            <a:ext cx="4181475" cy="8572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9E5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8096250" y="4114800"/>
            <a:ext cx="4010025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350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defRPr sz="1350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50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答卷、条件、截图、导出与矩阵</a:t>
            </a:r>
            <a:endParaRPr sz="1350" b="0">
              <a:solidFill>
                <a:srgbClr val="24364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666750" y="4933950"/>
            <a:ext cx="1895475" cy="8572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9E5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752475" y="4972050"/>
            <a:ext cx="1724025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350" b="1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defRPr sz="1350" b="1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lang="zh-CN" sz="1350" b="1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第二阶段</a:t>
            </a:r>
            <a:endParaRPr lang="zh-CN" sz="1350" b="1">
              <a:solidFill>
                <a:srgbClr val="24364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2562225" y="4933950"/>
            <a:ext cx="5448300" cy="8572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9E5"/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2647950" y="4972050"/>
            <a:ext cx="52768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350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defRPr sz="1350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50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开放接口、专利／项目／获奖样本、领域试标与许可核对</a:t>
            </a:r>
            <a:endParaRPr sz="1350" b="0">
              <a:solidFill>
                <a:srgbClr val="24364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8010525" y="4933950"/>
            <a:ext cx="4181475" cy="8572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9E5"/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8096250" y="4972050"/>
            <a:ext cx="4010025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350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defRPr sz="1350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50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请求响应、来源链接、字段缺口表</a:t>
            </a:r>
            <a:endParaRPr sz="1350" b="0">
              <a:solidFill>
                <a:srgbClr val="24364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" name="矩形 14"/>
          <p:cNvSpPr>
            <a:spLocks noGrp="1"/>
          </p:cNvSpPr>
          <p:nvPr/>
        </p:nvSpPr>
        <p:spPr>
          <a:xfrm>
            <a:off x="590550" y="304800"/>
            <a:ext cx="11010900" cy="676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2475" b="1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defRPr sz="2475" b="1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475" b="1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执行证据：两组样本</a:t>
            </a:r>
            <a:endParaRPr sz="2475" b="1">
              <a:solidFill>
                <a:srgbClr val="24364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90550" y="1057275"/>
            <a:ext cx="11010900" cy="19050"/>
          </a:xfrm>
          <a:prstGeom prst="rect">
            <a:avLst/>
          </a:prstGeom>
          <a:solidFill>
            <a:srgbClr val="C9D9E5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590550" y="6429375"/>
            <a:ext cx="2286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050" b="0">
                <a:solidFill>
                  <a:srgbClr val="5D7183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defRPr sz="1050" b="0">
                <a:solidFill>
                  <a:srgbClr val="5D7183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50" b="0">
                <a:solidFill>
                  <a:srgbClr val="5D7183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需求调研  3/10</a:t>
            </a:r>
            <a:endParaRPr sz="1050" b="0">
              <a:solidFill>
                <a:srgbClr val="5D7183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3009900" y="6429375"/>
            <a:ext cx="85344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975" b="0">
                <a:solidFill>
                  <a:srgbClr val="5D7183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defRPr sz="975" b="0">
                <a:solidFill>
                  <a:srgbClr val="5D7183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975" b="0">
                <a:solidFill>
                  <a:srgbClr val="5D7183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依据：需求调研报告 §2—3；补充实测记录 §2—5</a:t>
            </a:r>
            <a:endParaRPr sz="975" b="0">
              <a:solidFill>
                <a:srgbClr val="5D7183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47700" y="1438275"/>
            <a:ext cx="5143500" cy="3762375"/>
          </a:xfrm>
          <a:prstGeom prst="rect">
            <a:avLst/>
          </a:prstGeom>
          <a:solidFill>
            <a:srgbClr val="FFFFFF"/>
          </a:solidFill>
          <a:ln w="9525">
            <a:solidFill>
              <a:srgbClr val="C9D9E5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647700" y="1438275"/>
            <a:ext cx="57150" cy="3762375"/>
          </a:xfrm>
          <a:prstGeom prst="rect">
            <a:avLst/>
          </a:prstGeom>
          <a:solidFill>
            <a:srgbClr val="385E7D"/>
          </a:solidFill>
          <a:ln w="0">
            <a:noFill/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838200" y="1562100"/>
            <a:ext cx="47625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725" b="1">
                <a:solidFill>
                  <a:srgbClr val="385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defRPr sz="1725" b="1">
                <a:solidFill>
                  <a:srgbClr val="385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25" b="1">
                <a:solidFill>
                  <a:srgbClr val="385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A 组：北航软件学院渠道</a:t>
            </a:r>
            <a:endParaRPr sz="1725" b="1">
              <a:solidFill>
                <a:srgbClr val="385E7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38200" y="1990725"/>
            <a:ext cx="4762500" cy="3067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1500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defRPr sz="1500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500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20份学生问卷；知网、学院官网和课题组走查。</a:t>
            </a:r>
            <a:endParaRPr sz="1500" b="0">
              <a:solidFill>
                <a:srgbClr val="24364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  <a:p>
            <a:endParaRPr sz="1500"/>
          </a:p>
          <a:p>
            <a:pPr>
              <a:defRPr sz="1500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500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核对5篇已知论文、3件专利、3项项目与3项获奖的公开来源。</a:t>
            </a:r>
            <a:endParaRPr sz="1500" b="0">
              <a:solidFill>
                <a:srgbClr val="24364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  <a:p>
            <a:endParaRPr sz="1500"/>
          </a:p>
          <a:p>
            <a:pPr>
              <a:defRPr sz="1500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500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保存检索条件、访问结果、原值与失败状态。</a:t>
            </a:r>
            <a:endParaRPr sz="1500" b="0">
              <a:solidFill>
                <a:srgbClr val="24364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419850" y="1438275"/>
            <a:ext cx="5124450" cy="3762375"/>
          </a:xfrm>
          <a:prstGeom prst="rect">
            <a:avLst/>
          </a:prstGeom>
          <a:solidFill>
            <a:srgbClr val="FFFFFF"/>
          </a:solidFill>
          <a:ln w="9525">
            <a:solidFill>
              <a:srgbClr val="C9D9E5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6419850" y="1438275"/>
            <a:ext cx="57150" cy="3762375"/>
          </a:xfrm>
          <a:prstGeom prst="rect">
            <a:avLst/>
          </a:prstGeom>
          <a:solidFill>
            <a:srgbClr val="385E7D"/>
          </a:solidFill>
          <a:ln w="0">
            <a:noFill/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6610350" y="1562100"/>
            <a:ext cx="47434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725" b="1">
                <a:solidFill>
                  <a:srgbClr val="385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defRPr sz="1725" b="1">
                <a:solidFill>
                  <a:srgbClr val="385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25" b="1">
                <a:solidFill>
                  <a:srgbClr val="385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B 组：竞品与浙大机构抽样</a:t>
            </a:r>
            <a:endParaRPr sz="1725" b="1">
              <a:solidFill>
                <a:srgbClr val="385E7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610350" y="1990725"/>
            <a:ext cx="4743450" cy="3067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1500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defRPr sz="1500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500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七渠道竞品矩阵。</a:t>
            </a:r>
            <a:endParaRPr sz="1500" b="0">
              <a:solidFill>
                <a:srgbClr val="24364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  <a:p>
            <a:endParaRPr sz="1500"/>
          </a:p>
          <a:p>
            <a:pPr>
              <a:defRPr sz="1500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500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知网以浙大计算机学院为样本：2021至2025年检得456条，抽样20条查字段完整度。</a:t>
            </a:r>
            <a:endParaRPr sz="1500" b="0">
              <a:solidFill>
                <a:srgbClr val="24364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  <a:p>
            <a:endParaRPr sz="1500"/>
          </a:p>
          <a:p>
            <a:pPr>
              <a:defRPr sz="1500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500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教师／管理员诉求仅作角色推演。</a:t>
            </a:r>
            <a:endParaRPr sz="1500" b="0">
              <a:solidFill>
                <a:srgbClr val="24364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66750" y="5534025"/>
            <a:ext cx="10858500" cy="466725"/>
          </a:xfrm>
          <a:prstGeom prst="rect">
            <a:avLst/>
          </a:prstGeom>
          <a:solidFill>
            <a:srgbClr val="EAF1F8"/>
          </a:solidFill>
          <a:ln w="0">
            <a:noFill/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838200" y="5562600"/>
            <a:ext cx="1047750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350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defRPr sz="1350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50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北航公开样本与浙大知网存量抽样回答不同问题，统计数字分别引用，不相加为同一学院成果。</a:t>
            </a:r>
            <a:endParaRPr sz="1350" b="0">
              <a:solidFill>
                <a:srgbClr val="24364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" name="矩形 13"/>
          <p:cNvSpPr>
            <a:spLocks noGrp="1"/>
          </p:cNvSpPr>
          <p:nvPr/>
        </p:nvSpPr>
        <p:spPr>
          <a:xfrm>
            <a:off x="590550" y="304800"/>
            <a:ext cx="11010900" cy="676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2475" b="1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defRPr sz="2475" b="1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475" b="1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问卷与任务走查揭示检索问题</a:t>
            </a:r>
            <a:endParaRPr sz="2475" b="1">
              <a:solidFill>
                <a:srgbClr val="24364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90550" y="1057275"/>
            <a:ext cx="11010900" cy="19050"/>
          </a:xfrm>
          <a:prstGeom prst="rect">
            <a:avLst/>
          </a:prstGeom>
          <a:solidFill>
            <a:srgbClr val="C9D9E5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590550" y="6429375"/>
            <a:ext cx="2286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050" b="0">
                <a:solidFill>
                  <a:srgbClr val="5D7183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defRPr sz="1050" b="0">
                <a:solidFill>
                  <a:srgbClr val="5D7183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50" b="0">
                <a:solidFill>
                  <a:srgbClr val="5D7183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需求调研  4/10</a:t>
            </a:r>
            <a:endParaRPr sz="1050" b="0">
              <a:solidFill>
                <a:srgbClr val="5D7183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3009900" y="6429375"/>
            <a:ext cx="85344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975" b="0">
                <a:solidFill>
                  <a:srgbClr val="5D7183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defRPr sz="975" b="0">
                <a:solidFill>
                  <a:srgbClr val="5D7183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975" b="0">
                <a:solidFill>
                  <a:srgbClr val="5D7183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依据：需求调研报告 §2.1—2.3；匿名化答卷 n=20</a:t>
            </a:r>
            <a:endParaRPr sz="975" b="0">
              <a:solidFill>
                <a:srgbClr val="5D7183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2925" y="1861986"/>
            <a:ext cx="6572250" cy="3572178"/>
          </a:xfrm>
          <a:prstGeom prst="rect">
            <a:avLst/>
          </a:prstGeom>
        </p:spPr>
      </p:pic>
      <p:sp>
        <p:nvSpPr>
          <p:cNvPr id="6" name="矩形 5"/>
          <p:cNvSpPr>
            <a:spLocks noGrp="1"/>
          </p:cNvSpPr>
          <p:nvPr/>
        </p:nvSpPr>
        <p:spPr>
          <a:xfrm>
            <a:off x="7467600" y="1457325"/>
            <a:ext cx="4048125" cy="2028825"/>
          </a:xfrm>
          <a:prstGeom prst="rect">
            <a:avLst/>
          </a:prstGeom>
          <a:solidFill>
            <a:srgbClr val="FFFFFF"/>
          </a:solidFill>
          <a:ln w="9525">
            <a:solidFill>
              <a:srgbClr val="C9D9E5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7467600" y="1457325"/>
            <a:ext cx="57150" cy="2028825"/>
          </a:xfrm>
          <a:prstGeom prst="rect">
            <a:avLst/>
          </a:prstGeom>
          <a:solidFill>
            <a:srgbClr val="385E7D"/>
          </a:solidFill>
          <a:ln w="0">
            <a:noFill/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7658100" y="1581150"/>
            <a:ext cx="3667125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725" b="1">
                <a:solidFill>
                  <a:srgbClr val="385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defRPr sz="1725" b="1">
                <a:solidFill>
                  <a:srgbClr val="385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25" b="1">
                <a:solidFill>
                  <a:srgbClr val="385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普通用户问卷</a:t>
            </a:r>
            <a:endParaRPr sz="1725" b="1">
              <a:solidFill>
                <a:srgbClr val="385E7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7658100" y="2009775"/>
            <a:ext cx="3667125" cy="1333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1425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defRPr sz="1425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425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文献检索与下载重要性均值4.10分。样本以本科生为主，只能反映本轮普通用户偏好。</a:t>
            </a:r>
            <a:endParaRPr sz="1425" b="0">
              <a:solidFill>
                <a:srgbClr val="24364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7467600" y="3657600"/>
            <a:ext cx="4048125" cy="20193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9E5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7467600" y="3657600"/>
            <a:ext cx="57150" cy="2019300"/>
          </a:xfrm>
          <a:prstGeom prst="rect">
            <a:avLst/>
          </a:prstGeom>
          <a:solidFill>
            <a:srgbClr val="385E7D"/>
          </a:solidFill>
          <a:ln w="0">
            <a:noFill/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7658100" y="3781425"/>
            <a:ext cx="3667125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725" b="1">
                <a:solidFill>
                  <a:srgbClr val="385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defRPr sz="1725" b="1">
                <a:solidFill>
                  <a:srgbClr val="385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25" b="1">
                <a:solidFill>
                  <a:srgbClr val="385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跨渠道任务</a:t>
            </a:r>
            <a:endParaRPr sz="1725" b="1">
              <a:solidFill>
                <a:srgbClr val="385E7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7658100" y="4210050"/>
            <a:ext cx="3667125" cy="1323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1425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defRPr sz="1425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425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SANER论文可从官网和课题组核对题名、作者及获奖报道；知网指定查询多次报错。错误不能写成“该库零收录”。</a:t>
            </a:r>
            <a:endParaRPr sz="1425" b="0">
              <a:solidFill>
                <a:srgbClr val="24364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3" name="矩形 42"/>
          <p:cNvSpPr>
            <a:spLocks noGrp="1"/>
          </p:cNvSpPr>
          <p:nvPr/>
        </p:nvSpPr>
        <p:spPr>
          <a:xfrm>
            <a:off x="590550" y="304800"/>
            <a:ext cx="11010900" cy="676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2475" b="1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defRPr sz="2475" b="1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475" b="1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查询状态要保留失败原因</a:t>
            </a:r>
            <a:endParaRPr sz="2475" b="1">
              <a:solidFill>
                <a:srgbClr val="24364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90550" y="1057275"/>
            <a:ext cx="11010900" cy="19050"/>
          </a:xfrm>
          <a:prstGeom prst="rect">
            <a:avLst/>
          </a:prstGeom>
          <a:solidFill>
            <a:srgbClr val="C9D9E5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590550" y="6429375"/>
            <a:ext cx="2286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050" b="0">
                <a:solidFill>
                  <a:srgbClr val="5D7183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defRPr sz="1050" b="0">
                <a:solidFill>
                  <a:srgbClr val="5D7183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50" b="0">
                <a:solidFill>
                  <a:srgbClr val="5D7183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需求调研  5/10</a:t>
            </a:r>
            <a:endParaRPr sz="1050" b="0">
              <a:solidFill>
                <a:srgbClr val="5D7183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3009900" y="6429375"/>
            <a:ext cx="85344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975" b="0">
                <a:solidFill>
                  <a:srgbClr val="5D7183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defRPr sz="975" b="0">
                <a:solidFill>
                  <a:srgbClr val="5D7183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975" b="0">
                <a:solidFill>
                  <a:srgbClr val="5D7183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依据：需求调研报告 §2.2—2.4；A2—A4 走查记录</a:t>
            </a:r>
            <a:endParaRPr sz="975" b="0">
              <a:solidFill>
                <a:srgbClr val="5D7183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66750" y="1438275"/>
            <a:ext cx="2152650" cy="400050"/>
          </a:xfrm>
          <a:prstGeom prst="rect">
            <a:avLst/>
          </a:prstGeom>
          <a:solidFill>
            <a:srgbClr val="EAF1F8"/>
          </a:solidFill>
          <a:ln w="9525">
            <a:solidFill>
              <a:srgbClr val="C9D9E5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752475" y="1476375"/>
            <a:ext cx="1981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350" b="1">
                <a:solidFill>
                  <a:srgbClr val="385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defRPr sz="1350" b="1">
                <a:solidFill>
                  <a:srgbClr val="385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50" b="1">
                <a:solidFill>
                  <a:srgbClr val="385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状态</a:t>
            </a:r>
            <a:endParaRPr sz="1350" b="1">
              <a:solidFill>
                <a:srgbClr val="385E7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2819400" y="1438275"/>
            <a:ext cx="4705350" cy="400050"/>
          </a:xfrm>
          <a:prstGeom prst="rect">
            <a:avLst/>
          </a:prstGeom>
          <a:solidFill>
            <a:srgbClr val="EAF1F8"/>
          </a:solidFill>
          <a:ln w="9525">
            <a:solidFill>
              <a:srgbClr val="C9D9E5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2905125" y="1476375"/>
            <a:ext cx="4533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350" b="1">
                <a:solidFill>
                  <a:srgbClr val="385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defRPr sz="1350" b="1">
                <a:solidFill>
                  <a:srgbClr val="385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50" b="1">
                <a:solidFill>
                  <a:srgbClr val="385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观察或判定</a:t>
            </a:r>
            <a:endParaRPr sz="1350" b="1">
              <a:solidFill>
                <a:srgbClr val="385E7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7524750" y="1438275"/>
            <a:ext cx="4667250" cy="400050"/>
          </a:xfrm>
          <a:prstGeom prst="rect">
            <a:avLst/>
          </a:prstGeom>
          <a:solidFill>
            <a:srgbClr val="EAF1F8"/>
          </a:solidFill>
          <a:ln w="9525">
            <a:solidFill>
              <a:srgbClr val="C9D9E5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7610475" y="1476375"/>
            <a:ext cx="4495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350" b="1">
                <a:solidFill>
                  <a:srgbClr val="385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defRPr sz="1350" b="1">
                <a:solidFill>
                  <a:srgbClr val="385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50" b="1">
                <a:solidFill>
                  <a:srgbClr val="385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平台应呈现</a:t>
            </a:r>
            <a:endParaRPr sz="1350" b="1">
              <a:solidFill>
                <a:srgbClr val="385E7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66750" y="1838325"/>
            <a:ext cx="215265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9E5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752475" y="1876425"/>
            <a:ext cx="1981200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350" b="1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defRPr sz="1350" b="1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50" b="1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有结果</a:t>
            </a:r>
            <a:endParaRPr sz="1350" b="1">
              <a:solidFill>
                <a:srgbClr val="24364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2819400" y="1838325"/>
            <a:ext cx="470535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9E5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2905125" y="1876425"/>
            <a:ext cx="4533900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350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defRPr sz="1350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50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检索响应成功，展示题录及来源</a:t>
            </a:r>
            <a:endParaRPr sz="1350" b="0">
              <a:solidFill>
                <a:srgbClr val="24364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7524750" y="1838325"/>
            <a:ext cx="466725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9E5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7610475" y="1876425"/>
            <a:ext cx="4495800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350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defRPr sz="1350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50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结果、条件、时间和来源</a:t>
            </a:r>
            <a:endParaRPr sz="1350" b="0">
              <a:solidFill>
                <a:srgbClr val="24364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66750" y="2581275"/>
            <a:ext cx="215265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9E5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752475" y="2619375"/>
            <a:ext cx="1981200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350" b="1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defRPr sz="1350" b="1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50" b="1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明确零结果</a:t>
            </a:r>
            <a:endParaRPr sz="1350" b="1">
              <a:solidFill>
                <a:srgbClr val="24364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2819400" y="2581275"/>
            <a:ext cx="470535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9E5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2905125" y="2619375"/>
            <a:ext cx="4533900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350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defRPr sz="1350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50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查询成功但匹配记录数为零</a:t>
            </a:r>
            <a:endParaRPr sz="1350" b="0">
              <a:solidFill>
                <a:srgbClr val="24364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7524750" y="2581275"/>
            <a:ext cx="466725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9E5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7610475" y="2619375"/>
            <a:ext cx="4495800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350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defRPr sz="1350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50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零结果及可调整条件</a:t>
            </a:r>
            <a:endParaRPr sz="1350" b="0">
              <a:solidFill>
                <a:srgbClr val="24364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66750" y="3324225"/>
            <a:ext cx="215265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9E5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752475" y="3362325"/>
            <a:ext cx="1981200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350" b="1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defRPr sz="1350" b="1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50" b="1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查询失败</a:t>
            </a:r>
            <a:endParaRPr sz="1350" b="1">
              <a:solidFill>
                <a:srgbClr val="24364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2819400" y="3324225"/>
            <a:ext cx="470535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9E5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2905125" y="3362325"/>
            <a:ext cx="4533900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350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defRPr sz="1350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50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反复出现“请稍后重试”或接口报错</a:t>
            </a:r>
            <a:endParaRPr sz="1350" b="0">
              <a:solidFill>
                <a:srgbClr val="24364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7524750" y="3324225"/>
            <a:ext cx="466725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9E5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7610475" y="3362325"/>
            <a:ext cx="4495800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350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defRPr sz="1350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50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错误类型与重试入口</a:t>
            </a:r>
            <a:endParaRPr sz="1350" b="0">
              <a:solidFill>
                <a:srgbClr val="24364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666750" y="4067175"/>
            <a:ext cx="215265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9E5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752475" y="4105275"/>
            <a:ext cx="1981200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350" b="1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defRPr sz="1350" b="1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50" b="1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权限不足</a:t>
            </a:r>
            <a:endParaRPr sz="1350" b="1">
              <a:solidFill>
                <a:srgbClr val="24364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2819400" y="4067175"/>
            <a:ext cx="470535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9E5"/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2905125" y="4105275"/>
            <a:ext cx="4533900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350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defRPr sz="1350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50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需要登录或缺访问授权</a:t>
            </a:r>
            <a:endParaRPr sz="1350" b="0">
              <a:solidFill>
                <a:srgbClr val="24364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7524750" y="4067175"/>
            <a:ext cx="466725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9E5"/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7610475" y="4105275"/>
            <a:ext cx="4495800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350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defRPr sz="1350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50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访问条件，不泄露受限内容</a:t>
            </a:r>
            <a:endParaRPr sz="1350" b="0">
              <a:solidFill>
                <a:srgbClr val="24364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666750" y="4810125"/>
            <a:ext cx="215265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9E5"/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752475" y="4848225"/>
            <a:ext cx="1981200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350" b="1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defRPr sz="1350" b="1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50" b="1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尚未采集</a:t>
            </a:r>
            <a:endParaRPr sz="1350" b="1">
              <a:solidFill>
                <a:srgbClr val="24364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2819400" y="4810125"/>
            <a:ext cx="470535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9E5"/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2905125" y="4848225"/>
            <a:ext cx="4533900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350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defRPr sz="1350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50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该来源／类型未接入或未更新</a:t>
            </a:r>
            <a:endParaRPr sz="1350" b="0">
              <a:solidFill>
                <a:srgbClr val="24364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7524750" y="4810125"/>
            <a:ext cx="466725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9E5"/>
            </a:solidFill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7610475" y="4848225"/>
            <a:ext cx="4495800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350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defRPr sz="1350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50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覆盖范围与更新时间</a:t>
            </a:r>
            <a:endParaRPr sz="1350" b="0">
              <a:solidFill>
                <a:srgbClr val="24364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666750" y="5695950"/>
            <a:ext cx="10858500" cy="466725"/>
          </a:xfrm>
          <a:prstGeom prst="rect">
            <a:avLst/>
          </a:prstGeom>
          <a:solidFill>
            <a:srgbClr val="EAF1F8"/>
          </a:solidFill>
          <a:ln w="0">
            <a:noFill/>
            <a:prstDash val="solid"/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838200" y="5724525"/>
            <a:ext cx="1047750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350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defRPr sz="1350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50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本轮知网多次重试仍报错，记录为“查询失败”；失败与零结果分开，是 R04 的直接依据。</a:t>
            </a:r>
            <a:endParaRPr sz="1350" b="0">
              <a:solidFill>
                <a:srgbClr val="24364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9" name="矩形 18"/>
          <p:cNvSpPr>
            <a:spLocks noGrp="1"/>
          </p:cNvSpPr>
          <p:nvPr/>
        </p:nvSpPr>
        <p:spPr>
          <a:xfrm>
            <a:off x="590550" y="304800"/>
            <a:ext cx="11010900" cy="676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2475" b="1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defRPr sz="2475" b="1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475" b="1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五条论文验证开放题录可得性</a:t>
            </a:r>
            <a:endParaRPr sz="2475" b="1">
              <a:solidFill>
                <a:srgbClr val="24364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90550" y="1057275"/>
            <a:ext cx="11010900" cy="19050"/>
          </a:xfrm>
          <a:prstGeom prst="rect">
            <a:avLst/>
          </a:prstGeom>
          <a:solidFill>
            <a:srgbClr val="C9D9E5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590550" y="6429375"/>
            <a:ext cx="2286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050" b="0">
                <a:solidFill>
                  <a:srgbClr val="5D7183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defRPr sz="1050" b="0">
                <a:solidFill>
                  <a:srgbClr val="5D7183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50" b="0">
                <a:solidFill>
                  <a:srgbClr val="5D7183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需求调研  6/10</a:t>
            </a:r>
            <a:endParaRPr sz="1050" b="0">
              <a:solidFill>
                <a:srgbClr val="5D7183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3009900" y="6429375"/>
            <a:ext cx="85344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975" b="0">
                <a:solidFill>
                  <a:srgbClr val="5D7183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defRPr sz="975" b="0">
                <a:solidFill>
                  <a:srgbClr val="5D7183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975" b="0">
                <a:solidFill>
                  <a:srgbClr val="5D7183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依据：补充实测记录 §2；OpenAlex／DBLP 请求记录</a:t>
            </a:r>
            <a:endParaRPr sz="975" b="0">
              <a:solidFill>
                <a:srgbClr val="5D7183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47700" y="1428750"/>
            <a:ext cx="3371850" cy="38862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9E5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647700" y="1428750"/>
            <a:ext cx="57150" cy="3886200"/>
          </a:xfrm>
          <a:prstGeom prst="rect">
            <a:avLst/>
          </a:prstGeom>
          <a:solidFill>
            <a:srgbClr val="385E7D"/>
          </a:solidFill>
          <a:ln w="0">
            <a:noFill/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838200" y="1552575"/>
            <a:ext cx="29908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725" b="1">
                <a:solidFill>
                  <a:srgbClr val="385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defRPr sz="1725" b="1">
                <a:solidFill>
                  <a:srgbClr val="385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25" b="1">
                <a:solidFill>
                  <a:srgbClr val="385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OpenAlex</a:t>
            </a:r>
            <a:endParaRPr sz="1725" b="1">
              <a:solidFill>
                <a:srgbClr val="385E7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38200" y="1981200"/>
            <a:ext cx="2990850" cy="3190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1425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defRPr sz="1425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425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五条已知 DOI 均返回 ID、DOI、题名和发表年份，且与选取的题目对应。</a:t>
            </a:r>
            <a:endParaRPr sz="1425" b="0">
              <a:solidFill>
                <a:srgbClr val="24364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  <a:p>
            <a:endParaRPr sz="1425"/>
          </a:p>
          <a:p>
            <a:pPr>
              <a:defRPr sz="1425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425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这验证了单条候选元数据获取，不是总体覆盖率测量。</a:t>
            </a:r>
            <a:endParaRPr sz="1425" b="0">
              <a:solidFill>
                <a:srgbClr val="24364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4400550" y="1428750"/>
            <a:ext cx="3371850" cy="38862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9E5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4400550" y="1428750"/>
            <a:ext cx="57150" cy="3886200"/>
          </a:xfrm>
          <a:prstGeom prst="rect">
            <a:avLst/>
          </a:prstGeom>
          <a:solidFill>
            <a:srgbClr val="385E7D"/>
          </a:solidFill>
          <a:ln w="0">
            <a:noFill/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4591050" y="1552575"/>
            <a:ext cx="29908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725" b="1">
                <a:solidFill>
                  <a:srgbClr val="385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defRPr sz="1725" b="1">
                <a:solidFill>
                  <a:srgbClr val="385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25" b="1">
                <a:solidFill>
                  <a:srgbClr val="385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DBLP</a:t>
            </a:r>
            <a:endParaRPr sz="1725" b="1">
              <a:solidFill>
                <a:srgbClr val="385E7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4591050" y="1981200"/>
            <a:ext cx="2990850" cy="3190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1425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defRPr sz="1425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425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五个同题检索均返回记录；P3 返回两条。</a:t>
            </a:r>
            <a:endParaRPr sz="1425" b="0">
              <a:solidFill>
                <a:srgbClr val="24364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  <a:p>
            <a:endParaRPr sz="1425"/>
          </a:p>
          <a:p>
            <a:pPr>
              <a:defRPr sz="1425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425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需要核对预印本与正式发表版本，不能按相似题名直接重复计数或自动合并。</a:t>
            </a:r>
            <a:endParaRPr sz="1425" b="0">
              <a:solidFill>
                <a:srgbClr val="24364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153400" y="1428750"/>
            <a:ext cx="3371850" cy="38862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9E5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8153400" y="1428750"/>
            <a:ext cx="57150" cy="3886200"/>
          </a:xfrm>
          <a:prstGeom prst="rect">
            <a:avLst/>
          </a:prstGeom>
          <a:solidFill>
            <a:srgbClr val="385E7D"/>
          </a:solidFill>
          <a:ln w="0">
            <a:noFill/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8343900" y="1552575"/>
            <a:ext cx="29908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725" b="1">
                <a:solidFill>
                  <a:srgbClr val="385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defRPr sz="1725" b="1">
                <a:solidFill>
                  <a:srgbClr val="385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25" b="1">
                <a:solidFill>
                  <a:srgbClr val="385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跨源处理</a:t>
            </a:r>
            <a:endParaRPr sz="1725" b="1">
              <a:solidFill>
                <a:srgbClr val="385E7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8343900" y="1981200"/>
            <a:ext cx="2990850" cy="3190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1425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defRPr sz="1425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425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同一作者的写法可能不同；来源原始作者名与平台规范名均须保留。</a:t>
            </a:r>
            <a:endParaRPr sz="1425" b="0">
              <a:solidFill>
                <a:srgbClr val="24364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  <a:p>
            <a:endParaRPr sz="1425"/>
          </a:p>
          <a:p>
            <a:pPr>
              <a:defRPr sz="1425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425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DOI或关键词缺失时保留状态，避免自动填造。</a:t>
            </a:r>
            <a:endParaRPr sz="1425" b="0">
              <a:solidFill>
                <a:srgbClr val="24364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66750" y="5591175"/>
            <a:ext cx="10858500" cy="466725"/>
          </a:xfrm>
          <a:prstGeom prst="rect">
            <a:avLst/>
          </a:prstGeom>
          <a:solidFill>
            <a:srgbClr val="EAF1F8"/>
          </a:solidFill>
          <a:ln w="0">
            <a:noFill/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838200" y="5619750"/>
            <a:ext cx="1047750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350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defRPr sz="1350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50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采集设计只针对获许可的元数据；开放题录与论文全文分别核对使用条件。</a:t>
            </a:r>
            <a:endParaRPr sz="1350" b="0">
              <a:solidFill>
                <a:srgbClr val="24364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9" name="矩形 18"/>
          <p:cNvSpPr>
            <a:spLocks noGrp="1"/>
          </p:cNvSpPr>
          <p:nvPr/>
        </p:nvSpPr>
        <p:spPr>
          <a:xfrm>
            <a:off x="590550" y="304800"/>
            <a:ext cx="11010900" cy="676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2475" b="1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defRPr sz="2475" b="1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475" b="1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专利、项目、获奖的字段缺口不同</a:t>
            </a:r>
            <a:endParaRPr sz="2475" b="1">
              <a:solidFill>
                <a:srgbClr val="24364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90550" y="1057275"/>
            <a:ext cx="11010900" cy="19050"/>
          </a:xfrm>
          <a:prstGeom prst="rect">
            <a:avLst/>
          </a:prstGeom>
          <a:solidFill>
            <a:srgbClr val="C9D9E5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590550" y="6429375"/>
            <a:ext cx="2286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050" b="0">
                <a:solidFill>
                  <a:srgbClr val="5D7183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defRPr sz="1050" b="0">
                <a:solidFill>
                  <a:srgbClr val="5D7183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50" b="0">
                <a:solidFill>
                  <a:srgbClr val="5D7183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需求调研  7/10</a:t>
            </a:r>
            <a:endParaRPr sz="1050" b="0">
              <a:solidFill>
                <a:srgbClr val="5D7183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3009900" y="6429375"/>
            <a:ext cx="85344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975" b="0">
                <a:solidFill>
                  <a:srgbClr val="5D7183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defRPr sz="975" b="0">
                <a:solidFill>
                  <a:srgbClr val="5D7183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975" b="0">
                <a:solidFill>
                  <a:srgbClr val="5D7183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依据：补充实测记录 §3—5</a:t>
            </a:r>
            <a:endParaRPr sz="975" b="0">
              <a:solidFill>
                <a:srgbClr val="5D7183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47700" y="1428750"/>
            <a:ext cx="3371850" cy="40005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9E5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647700" y="1428750"/>
            <a:ext cx="57150" cy="4000500"/>
          </a:xfrm>
          <a:prstGeom prst="rect">
            <a:avLst/>
          </a:prstGeom>
          <a:solidFill>
            <a:srgbClr val="385E7D"/>
          </a:solidFill>
          <a:ln w="0">
            <a:noFill/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838200" y="1552575"/>
            <a:ext cx="29908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725" b="1">
                <a:solidFill>
                  <a:srgbClr val="385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defRPr sz="1725" b="1">
                <a:solidFill>
                  <a:srgbClr val="385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25" b="1">
                <a:solidFill>
                  <a:srgbClr val="385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三件专利</a:t>
            </a:r>
            <a:endParaRPr sz="1725" b="1">
              <a:solidFill>
                <a:srgbClr val="385E7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38200" y="1981200"/>
            <a:ext cx="2990850" cy="3305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1425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defRPr sz="1425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425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可核公布号、申请号、申请人和发明人。</a:t>
            </a:r>
            <a:endParaRPr sz="1425" b="0">
              <a:solidFill>
                <a:srgbClr val="24364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  <a:p>
            <a:endParaRPr sz="1425"/>
          </a:p>
          <a:p>
            <a:pPr>
              <a:defRPr sz="1425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425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教师现任学院不能反推其任职前专利的学院归属；第三方页面的法律状态需主管机构核对。</a:t>
            </a:r>
            <a:endParaRPr sz="1425" b="0">
              <a:solidFill>
                <a:srgbClr val="24364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4400550" y="1428750"/>
            <a:ext cx="3371850" cy="40005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9E5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4400550" y="1428750"/>
            <a:ext cx="57150" cy="4000500"/>
          </a:xfrm>
          <a:prstGeom prst="rect">
            <a:avLst/>
          </a:prstGeom>
          <a:solidFill>
            <a:srgbClr val="385E7D"/>
          </a:solidFill>
          <a:ln w="0">
            <a:noFill/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4591050" y="1552575"/>
            <a:ext cx="29908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725" b="1">
                <a:solidFill>
                  <a:srgbClr val="385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defRPr sz="1725" b="1">
                <a:solidFill>
                  <a:srgbClr val="385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25" b="1">
                <a:solidFill>
                  <a:srgbClr val="385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三项项目</a:t>
            </a:r>
            <a:endParaRPr sz="1725" b="1">
              <a:solidFill>
                <a:srgbClr val="385E7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4591050" y="1981200"/>
            <a:ext cx="2990850" cy="3305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1425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defRPr sz="1425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425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教师主页可查项目名称与来源，但编号、期限、负责人或状态不齐。</a:t>
            </a:r>
            <a:endParaRPr sz="1425" b="0">
              <a:solidFill>
                <a:srgbClr val="24364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  <a:p>
            <a:endParaRPr sz="1425"/>
          </a:p>
          <a:p>
            <a:pPr>
              <a:defRPr sz="1425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425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论文致谢编号仅是交叉线索，不能直接填成正式项目编号。</a:t>
            </a:r>
            <a:endParaRPr sz="1425" b="0">
              <a:solidFill>
                <a:srgbClr val="24364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153400" y="1428750"/>
            <a:ext cx="3371850" cy="40005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9E5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8153400" y="1428750"/>
            <a:ext cx="57150" cy="4000500"/>
          </a:xfrm>
          <a:prstGeom prst="rect">
            <a:avLst/>
          </a:prstGeom>
          <a:solidFill>
            <a:srgbClr val="385E7D"/>
          </a:solidFill>
          <a:ln w="0">
            <a:noFill/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8343900" y="1552575"/>
            <a:ext cx="29908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725" b="1">
                <a:solidFill>
                  <a:srgbClr val="385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defRPr sz="1725" b="1">
                <a:solidFill>
                  <a:srgbClr val="385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25" b="1">
                <a:solidFill>
                  <a:srgbClr val="385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三项获奖</a:t>
            </a:r>
            <a:endParaRPr sz="1725" b="1">
              <a:solidFill>
                <a:srgbClr val="385E7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8343900" y="1981200"/>
            <a:ext cx="2990850" cy="3305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1425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defRPr sz="1425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425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会议名单、论文页与学院报道可交叉核对；证据等级有差异。</a:t>
            </a:r>
            <a:endParaRPr sz="1425" b="0">
              <a:solidFill>
                <a:srgbClr val="24364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  <a:p>
            <a:endParaRPr sz="1425"/>
          </a:p>
          <a:p>
            <a:pPr>
              <a:defRPr sz="1425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425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论文的DOI不能充当奖项编号。只有报道时须标“正式名单待核”。</a:t>
            </a:r>
            <a:endParaRPr sz="1425" b="0">
              <a:solidFill>
                <a:srgbClr val="24364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66750" y="5638800"/>
            <a:ext cx="10858500" cy="466725"/>
          </a:xfrm>
          <a:prstGeom prst="rect">
            <a:avLst/>
          </a:prstGeom>
          <a:solidFill>
            <a:srgbClr val="EAF1F8"/>
          </a:solidFill>
          <a:ln w="0">
            <a:noFill/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838200" y="5667375"/>
            <a:ext cx="1047750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350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defRPr sz="1350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50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跨类型统一要求：记录来源、字段缺失和核验等级，避免把公开页面文字直接当作权威登记记录。</a:t>
            </a:r>
            <a:endParaRPr sz="1350" b="0">
              <a:solidFill>
                <a:srgbClr val="24364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" name="矩形 14"/>
          <p:cNvSpPr>
            <a:spLocks noGrp="1"/>
          </p:cNvSpPr>
          <p:nvPr/>
        </p:nvSpPr>
        <p:spPr>
          <a:xfrm>
            <a:off x="590550" y="304800"/>
            <a:ext cx="11010900" cy="676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2475" b="1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defRPr sz="2475" b="1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475" b="1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领域分类与逐源许可形成入库边界</a:t>
            </a:r>
            <a:endParaRPr sz="2475" b="1">
              <a:solidFill>
                <a:srgbClr val="24364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90550" y="1057275"/>
            <a:ext cx="11010900" cy="19050"/>
          </a:xfrm>
          <a:prstGeom prst="rect">
            <a:avLst/>
          </a:prstGeom>
          <a:solidFill>
            <a:srgbClr val="C9D9E5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590550" y="6429375"/>
            <a:ext cx="2286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050" b="0">
                <a:solidFill>
                  <a:srgbClr val="5D7183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defRPr sz="1050" b="0">
                <a:solidFill>
                  <a:srgbClr val="5D7183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50" b="0">
                <a:solidFill>
                  <a:srgbClr val="5D7183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需求调研  8/10</a:t>
            </a:r>
            <a:endParaRPr sz="1050" b="0">
              <a:solidFill>
                <a:srgbClr val="5D7183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3009900" y="6429375"/>
            <a:ext cx="85344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975" b="0">
                <a:solidFill>
                  <a:srgbClr val="5D7183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defRPr sz="975" b="0">
                <a:solidFill>
                  <a:srgbClr val="5D7183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975" b="0">
                <a:solidFill>
                  <a:srgbClr val="5D7183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依据：补充实测记录 §6—7；数据源清单</a:t>
            </a:r>
            <a:endParaRPr sz="975" b="0">
              <a:solidFill>
                <a:srgbClr val="5D7183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47700" y="1428750"/>
            <a:ext cx="5143500" cy="3762375"/>
          </a:xfrm>
          <a:prstGeom prst="rect">
            <a:avLst/>
          </a:prstGeom>
          <a:solidFill>
            <a:srgbClr val="FFFFFF"/>
          </a:solidFill>
          <a:ln w="9525">
            <a:solidFill>
              <a:srgbClr val="C9D9E5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647700" y="1428750"/>
            <a:ext cx="57150" cy="3762375"/>
          </a:xfrm>
          <a:prstGeom prst="rect">
            <a:avLst/>
          </a:prstGeom>
          <a:solidFill>
            <a:srgbClr val="385E7D"/>
          </a:solidFill>
          <a:ln w="0">
            <a:noFill/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838200" y="1552575"/>
            <a:ext cx="47625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725" b="1">
                <a:solidFill>
                  <a:srgbClr val="385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defRPr sz="1725" b="1">
                <a:solidFill>
                  <a:srgbClr val="385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25" b="1">
                <a:solidFill>
                  <a:srgbClr val="385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领域分类：十条试标</a:t>
            </a:r>
            <a:endParaRPr sz="1725" b="1">
              <a:solidFill>
                <a:srgbClr val="385E7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38200" y="1981200"/>
            <a:ext cx="4762500" cy="3067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1425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defRPr sz="1425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425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成果类型与研究领域分开建模。</a:t>
            </a:r>
            <a:endParaRPr sz="1425" b="0">
              <a:solidFill>
                <a:srgbClr val="24364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  <a:p>
            <a:endParaRPr sz="1425"/>
          </a:p>
          <a:p>
            <a:pPr>
              <a:defRPr sz="1425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425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一级参考学科目录，二级参考学院／课题组方向，三级采用受控主题词。</a:t>
            </a:r>
            <a:endParaRPr sz="1425" b="0">
              <a:solidFill>
                <a:srgbClr val="24364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  <a:p>
            <a:endParaRPr sz="1425"/>
          </a:p>
          <a:p>
            <a:pPr>
              <a:defRPr sz="1425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425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试标中P3、T3、R2跨一级学科，允许多标签并保留人工复核状态。</a:t>
            </a:r>
            <a:endParaRPr sz="1425" b="0">
              <a:solidFill>
                <a:srgbClr val="24364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419850" y="1428750"/>
            <a:ext cx="5124450" cy="3762375"/>
          </a:xfrm>
          <a:prstGeom prst="rect">
            <a:avLst/>
          </a:prstGeom>
          <a:solidFill>
            <a:srgbClr val="FFFFFF"/>
          </a:solidFill>
          <a:ln w="9525">
            <a:solidFill>
              <a:srgbClr val="C9D9E5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6419850" y="1428750"/>
            <a:ext cx="57150" cy="3762375"/>
          </a:xfrm>
          <a:prstGeom prst="rect">
            <a:avLst/>
          </a:prstGeom>
          <a:solidFill>
            <a:srgbClr val="385E7D"/>
          </a:solidFill>
          <a:ln w="0">
            <a:noFill/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6610350" y="1552575"/>
            <a:ext cx="47434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725" b="1">
                <a:solidFill>
                  <a:srgbClr val="385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defRPr sz="1725" b="1">
                <a:solidFill>
                  <a:srgbClr val="385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25" b="1">
                <a:solidFill>
                  <a:srgbClr val="385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来源与许可：逐源记录</a:t>
            </a:r>
            <a:endParaRPr sz="1725" b="1">
              <a:solidFill>
                <a:srgbClr val="385E7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610350" y="1981200"/>
            <a:ext cx="4743450" cy="3067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1425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defRPr sz="1425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425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OpenAlex／DBLP 本轮验证元数据请求；论文副本另核许可。</a:t>
            </a:r>
            <a:endParaRPr sz="1425" b="0">
              <a:solidFill>
                <a:srgbClr val="24364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  <a:p>
            <a:endParaRPr sz="1425"/>
          </a:p>
          <a:p>
            <a:pPr>
              <a:defRPr sz="1425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425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知网仅作授权范围内人工核对及单条导出。专利系统、学院与会议站点的批量获取条件仍待确认。</a:t>
            </a:r>
            <a:endParaRPr sz="1425" b="0">
              <a:solidFill>
                <a:srgbClr val="24364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  <a:p>
            <a:endParaRPr sz="1425"/>
          </a:p>
          <a:p>
            <a:pPr>
              <a:defRPr sz="1425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425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每条候选记录保存来源 URL、获取时间、原值及授权判断。</a:t>
            </a:r>
            <a:endParaRPr sz="1425" b="0">
              <a:solidFill>
                <a:srgbClr val="24364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66750" y="5514975"/>
            <a:ext cx="10858500" cy="466725"/>
          </a:xfrm>
          <a:prstGeom prst="rect">
            <a:avLst/>
          </a:prstGeom>
          <a:solidFill>
            <a:srgbClr val="EAF1F8"/>
          </a:solidFill>
          <a:ln w="0">
            <a:noFill/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838200" y="5543550"/>
            <a:ext cx="1047750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350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defRPr sz="1350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50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公开可读不自动等于可批量采集；本轮没有对未授权站点执行爬虫。</a:t>
            </a:r>
            <a:endParaRPr sz="1350" b="0">
              <a:solidFill>
                <a:srgbClr val="24364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7" name="矩形 46"/>
          <p:cNvSpPr>
            <a:spLocks noGrp="1"/>
          </p:cNvSpPr>
          <p:nvPr/>
        </p:nvSpPr>
        <p:spPr>
          <a:xfrm>
            <a:off x="590550" y="304800"/>
            <a:ext cx="11010900" cy="676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2475" b="1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defRPr sz="2475" b="1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475" b="1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调研结论如何转成需求</a:t>
            </a:r>
            <a:endParaRPr sz="2475" b="1">
              <a:solidFill>
                <a:srgbClr val="24364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90550" y="1057275"/>
            <a:ext cx="11010900" cy="19050"/>
          </a:xfrm>
          <a:prstGeom prst="rect">
            <a:avLst/>
          </a:prstGeom>
          <a:solidFill>
            <a:srgbClr val="C9D9E5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590550" y="6429375"/>
            <a:ext cx="2286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050" b="0">
                <a:solidFill>
                  <a:srgbClr val="5D7183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defRPr sz="1050" b="0">
                <a:solidFill>
                  <a:srgbClr val="5D7183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50" b="0">
                <a:solidFill>
                  <a:srgbClr val="5D7183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需求调研  9/10</a:t>
            </a:r>
            <a:endParaRPr sz="1050" b="0">
              <a:solidFill>
                <a:srgbClr val="5D7183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3009900" y="6429375"/>
            <a:ext cx="85344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975" b="0">
                <a:solidFill>
                  <a:srgbClr val="5D7183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defRPr sz="975" b="0">
                <a:solidFill>
                  <a:srgbClr val="5D7183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975" b="0">
                <a:solidFill>
                  <a:srgbClr val="5D7183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依据：需求调研报告 §4—5；R01—R10 清单</a:t>
            </a:r>
            <a:endParaRPr sz="975" b="0">
              <a:solidFill>
                <a:srgbClr val="5D7183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57225" y="1381125"/>
            <a:ext cx="4143375" cy="400050"/>
          </a:xfrm>
          <a:prstGeom prst="rect">
            <a:avLst/>
          </a:prstGeom>
          <a:solidFill>
            <a:srgbClr val="EAF1F8"/>
          </a:solidFill>
          <a:ln w="9525">
            <a:solidFill>
              <a:srgbClr val="C9D9E5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742950" y="1419225"/>
            <a:ext cx="39719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350" b="1">
                <a:solidFill>
                  <a:srgbClr val="385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defRPr sz="1350" b="1">
                <a:solidFill>
                  <a:srgbClr val="385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50" b="1">
                <a:solidFill>
                  <a:srgbClr val="385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证据</a:t>
            </a:r>
            <a:endParaRPr sz="1350" b="1">
              <a:solidFill>
                <a:srgbClr val="385E7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4800600" y="1381125"/>
            <a:ext cx="3762375" cy="400050"/>
          </a:xfrm>
          <a:prstGeom prst="rect">
            <a:avLst/>
          </a:prstGeom>
          <a:solidFill>
            <a:srgbClr val="EAF1F8"/>
          </a:solidFill>
          <a:ln w="9525">
            <a:solidFill>
              <a:srgbClr val="C9D9E5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4886325" y="1419225"/>
            <a:ext cx="35909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350" b="1">
                <a:solidFill>
                  <a:srgbClr val="385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defRPr sz="1350" b="1">
                <a:solidFill>
                  <a:srgbClr val="385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50" b="1">
                <a:solidFill>
                  <a:srgbClr val="385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需求</a:t>
            </a:r>
            <a:endParaRPr sz="1350" b="1">
              <a:solidFill>
                <a:srgbClr val="385E7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8562975" y="1381125"/>
            <a:ext cx="3619500" cy="400050"/>
          </a:xfrm>
          <a:prstGeom prst="rect">
            <a:avLst/>
          </a:prstGeom>
          <a:solidFill>
            <a:srgbClr val="EAF1F8"/>
          </a:solidFill>
          <a:ln w="9525">
            <a:solidFill>
              <a:srgbClr val="C9D9E5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8648700" y="1419225"/>
            <a:ext cx="3448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350" b="1">
                <a:solidFill>
                  <a:srgbClr val="385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defRPr sz="1350" b="1">
                <a:solidFill>
                  <a:srgbClr val="385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50" b="1">
                <a:solidFill>
                  <a:srgbClr val="385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边界</a:t>
            </a:r>
            <a:endParaRPr sz="1350" b="1">
              <a:solidFill>
                <a:srgbClr val="385E7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57225" y="1781175"/>
            <a:ext cx="4143375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9E5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742950" y="1819275"/>
            <a:ext cx="3971925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275" b="1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defRPr sz="1275" b="1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75" b="1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问卷与宽词任务暴露查找成本</a:t>
            </a:r>
            <a:endParaRPr sz="1275" b="1">
              <a:solidFill>
                <a:srgbClr val="24364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4800600" y="1781175"/>
            <a:ext cx="3762375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9E5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4886325" y="1819275"/>
            <a:ext cx="3590925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275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defRPr sz="1275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75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R02 组合检索、条件回显</a:t>
            </a:r>
            <a:endParaRPr sz="1275" b="0">
              <a:solidFill>
                <a:srgbClr val="24364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8562975" y="1781175"/>
            <a:ext cx="3619500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9E5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8648700" y="1819275"/>
            <a:ext cx="3448050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275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defRPr sz="1275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75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普通用户样本 n=20</a:t>
            </a:r>
            <a:endParaRPr sz="1275" b="0">
              <a:solidFill>
                <a:srgbClr val="24364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57225" y="2447925"/>
            <a:ext cx="4143375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9E5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742950" y="2486025"/>
            <a:ext cx="3971925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275" b="1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defRPr sz="1275" b="1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75" b="1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知网指定查询反复报错</a:t>
            </a:r>
            <a:endParaRPr sz="1275" b="1">
              <a:solidFill>
                <a:srgbClr val="24364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4800600" y="2447925"/>
            <a:ext cx="3762375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9E5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4886325" y="2486025"/>
            <a:ext cx="3590925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275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defRPr sz="1275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75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R04 区分零结果与失败</a:t>
            </a:r>
            <a:endParaRPr sz="1275" b="0">
              <a:solidFill>
                <a:srgbClr val="24364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8562975" y="2447925"/>
            <a:ext cx="3619500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9E5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8648700" y="2486025"/>
            <a:ext cx="3448050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275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defRPr sz="1275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75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不推断数据库零收录</a:t>
            </a:r>
            <a:endParaRPr sz="1275" b="0">
              <a:solidFill>
                <a:srgbClr val="24364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57225" y="3114675"/>
            <a:ext cx="4143375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9E5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742950" y="3152775"/>
            <a:ext cx="3971925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275" b="1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defRPr sz="1275" b="1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75" b="1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五条论文跨源；P3 返回两条记录</a:t>
            </a:r>
            <a:endParaRPr sz="1275" b="1">
              <a:solidFill>
                <a:srgbClr val="24364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4800600" y="3114675"/>
            <a:ext cx="3762375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9E5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4886325" y="3152775"/>
            <a:ext cx="3590925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275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defRPr sz="1275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75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R03 来源留痕、去重核验</a:t>
            </a:r>
            <a:endParaRPr sz="1275" b="0">
              <a:solidFill>
                <a:srgbClr val="24364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8562975" y="3114675"/>
            <a:ext cx="3619500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9E5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8648700" y="3152775"/>
            <a:ext cx="3448050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275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defRPr sz="1275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75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同题与同名不自动合并</a:t>
            </a:r>
            <a:endParaRPr sz="1275" b="0">
              <a:solidFill>
                <a:srgbClr val="24364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657225" y="3781425"/>
            <a:ext cx="4143375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9E5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742950" y="3819525"/>
            <a:ext cx="3971925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275" b="1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defRPr sz="1275" b="1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75" b="1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B组20条样本存在字段缺失</a:t>
            </a:r>
            <a:endParaRPr sz="1275" b="1">
              <a:solidFill>
                <a:srgbClr val="24364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4800600" y="3781425"/>
            <a:ext cx="3762375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9E5"/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4886325" y="3819525"/>
            <a:ext cx="3590925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275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defRPr sz="1275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75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R08 DOI／关键词可缺失</a:t>
            </a:r>
            <a:endParaRPr sz="1275" b="0">
              <a:solidFill>
                <a:srgbClr val="24364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8562975" y="3781425"/>
            <a:ext cx="3619500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9E5"/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8648700" y="3819525"/>
            <a:ext cx="3448050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275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defRPr sz="1275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75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抽样不外推完整率</a:t>
            </a:r>
            <a:endParaRPr sz="1275" b="0">
              <a:solidFill>
                <a:srgbClr val="24364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657225" y="4448175"/>
            <a:ext cx="4143375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9E5"/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742950" y="4486275"/>
            <a:ext cx="3971925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275" b="1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defRPr sz="1275" b="1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75" b="1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公开接口可得，采集许可不同</a:t>
            </a:r>
            <a:endParaRPr sz="1275" b="1">
              <a:solidFill>
                <a:srgbClr val="24364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4800600" y="4448175"/>
            <a:ext cx="3762375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9E5"/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4886325" y="4486275"/>
            <a:ext cx="3590925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275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defRPr sz="1275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75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R06 合法采集、清洗、更新</a:t>
            </a:r>
            <a:endParaRPr sz="1275" b="0">
              <a:solidFill>
                <a:srgbClr val="24364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8562975" y="4448175"/>
            <a:ext cx="3619500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9E5"/>
            </a:solidFill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8648700" y="4486275"/>
            <a:ext cx="3448050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275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defRPr sz="1275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75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批量许可逐源确认</a:t>
            </a:r>
            <a:endParaRPr sz="1275" b="0">
              <a:solidFill>
                <a:srgbClr val="24364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657225" y="5114925"/>
            <a:ext cx="4143375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9E5"/>
            </a:solidFill>
            <a:prstDash val="solid"/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742950" y="5153025"/>
            <a:ext cx="3971925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275" b="1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defRPr sz="1275" b="1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75" b="1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教师／管理员尚无真实访谈</a:t>
            </a:r>
            <a:endParaRPr sz="1275" b="1">
              <a:solidFill>
                <a:srgbClr val="24364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4800600" y="5114925"/>
            <a:ext cx="3762375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9E5"/>
            </a:solidFill>
            <a:prstDash val="solid"/>
          </a:ln>
        </p:spPr>
      </p:sp>
      <p:sp>
        <p:nvSpPr>
          <p:cNvPr id="44" name="矩形 43"/>
          <p:cNvSpPr>
            <a:spLocks noGrp="1"/>
          </p:cNvSpPr>
          <p:nvPr/>
        </p:nvSpPr>
        <p:spPr>
          <a:xfrm>
            <a:off x="4886325" y="5153025"/>
            <a:ext cx="3590925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275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defRPr sz="1275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75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R05 审核细则保持待验证</a:t>
            </a:r>
            <a:endParaRPr sz="1275" b="0">
              <a:solidFill>
                <a:srgbClr val="24364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8562975" y="5114925"/>
            <a:ext cx="3619500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9E5"/>
            </a:solidFill>
            <a:prstDash val="solid"/>
          </a:ln>
        </p:spPr>
      </p:sp>
      <p:sp>
        <p:nvSpPr>
          <p:cNvPr id="46" name="矩形 45"/>
          <p:cNvSpPr>
            <a:spLocks noGrp="1"/>
          </p:cNvSpPr>
          <p:nvPr/>
        </p:nvSpPr>
        <p:spPr>
          <a:xfrm>
            <a:off x="8648700" y="5153025"/>
            <a:ext cx="3448050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275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defRPr sz="1275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75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推演不作为已确认需求</a:t>
            </a:r>
            <a:endParaRPr sz="1275" b="0">
              <a:solidFill>
                <a:srgbClr val="24364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9" name="矩形 18"/>
          <p:cNvSpPr>
            <a:spLocks noGrp="1"/>
          </p:cNvSpPr>
          <p:nvPr/>
        </p:nvSpPr>
        <p:spPr>
          <a:xfrm>
            <a:off x="590550" y="304800"/>
            <a:ext cx="11010900" cy="676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2475" b="1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defRPr sz="2475" b="1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475" b="1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调研交付与下一轮验证</a:t>
            </a:r>
            <a:endParaRPr sz="2475" b="1">
              <a:solidFill>
                <a:srgbClr val="24364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90550" y="1057275"/>
            <a:ext cx="11010900" cy="19050"/>
          </a:xfrm>
          <a:prstGeom prst="rect">
            <a:avLst/>
          </a:prstGeom>
          <a:solidFill>
            <a:srgbClr val="C9D9E5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590550" y="6429375"/>
            <a:ext cx="2286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050" b="0">
                <a:solidFill>
                  <a:srgbClr val="5D7183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defRPr sz="1050" b="0">
                <a:solidFill>
                  <a:srgbClr val="5D7183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50" b="0">
                <a:solidFill>
                  <a:srgbClr val="5D7183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需求调研  10/10</a:t>
            </a:r>
            <a:endParaRPr sz="1050" b="0">
              <a:solidFill>
                <a:srgbClr val="5D7183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3009900" y="6429375"/>
            <a:ext cx="85344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975" b="0">
                <a:solidFill>
                  <a:srgbClr val="5D7183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defRPr sz="975" b="0">
                <a:solidFill>
                  <a:srgbClr val="5D7183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975" b="0">
                <a:solidFill>
                  <a:srgbClr val="5D7183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依据：需求调研报告 §5—6；提交版数据源清单</a:t>
            </a:r>
            <a:endParaRPr sz="975" b="0">
              <a:solidFill>
                <a:srgbClr val="5D7183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47700" y="1438275"/>
            <a:ext cx="3371850" cy="3876675"/>
          </a:xfrm>
          <a:prstGeom prst="rect">
            <a:avLst/>
          </a:prstGeom>
          <a:solidFill>
            <a:srgbClr val="FFFFFF"/>
          </a:solidFill>
          <a:ln w="9525">
            <a:solidFill>
              <a:srgbClr val="C9D9E5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647700" y="1438275"/>
            <a:ext cx="57150" cy="3876675"/>
          </a:xfrm>
          <a:prstGeom prst="rect">
            <a:avLst/>
          </a:prstGeom>
          <a:solidFill>
            <a:srgbClr val="385E7D"/>
          </a:solidFill>
          <a:ln w="0">
            <a:noFill/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838200" y="1562100"/>
            <a:ext cx="29908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725" b="1">
                <a:solidFill>
                  <a:srgbClr val="385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defRPr sz="1725" b="1">
                <a:solidFill>
                  <a:srgbClr val="385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25" b="1">
                <a:solidFill>
                  <a:srgbClr val="385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本次已完成</a:t>
            </a:r>
            <a:endParaRPr sz="1725" b="1">
              <a:solidFill>
                <a:srgbClr val="385E7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38200" y="1990725"/>
            <a:ext cx="2990850" cy="3181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1425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defRPr sz="1425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425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调研方案与访谈提纲；</a:t>
            </a:r>
            <a:endParaRPr sz="1425" b="0">
              <a:solidFill>
                <a:srgbClr val="24364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  <a:p>
            <a:pPr>
              <a:defRPr sz="1425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425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20份普通用户问卷；</a:t>
            </a:r>
            <a:endParaRPr sz="1425" b="0">
              <a:solidFill>
                <a:srgbClr val="24364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  <a:p>
            <a:pPr>
              <a:defRPr sz="1425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425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知网及官网任务走查；</a:t>
            </a:r>
            <a:endParaRPr sz="1425" b="0">
              <a:solidFill>
                <a:srgbClr val="24364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  <a:p>
            <a:pPr>
              <a:defRPr sz="1425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425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七渠道比较和浙大存量抽样；</a:t>
            </a:r>
            <a:endParaRPr sz="1425" b="0">
              <a:solidFill>
                <a:srgbClr val="24364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  <a:p>
            <a:pPr>
              <a:defRPr sz="1425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425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公开源与跨类型样本；</a:t>
            </a:r>
            <a:endParaRPr sz="1425" b="0">
              <a:solidFill>
                <a:srgbClr val="24364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  <a:p>
            <a:pPr>
              <a:defRPr sz="1425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425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十条领域试标。</a:t>
            </a:r>
            <a:endParaRPr sz="1425" b="0">
              <a:solidFill>
                <a:srgbClr val="24364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4400550" y="1438275"/>
            <a:ext cx="3371850" cy="3876675"/>
          </a:xfrm>
          <a:prstGeom prst="rect">
            <a:avLst/>
          </a:prstGeom>
          <a:solidFill>
            <a:srgbClr val="FFFFFF"/>
          </a:solidFill>
          <a:ln w="9525">
            <a:solidFill>
              <a:srgbClr val="C9D9E5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4400550" y="1438275"/>
            <a:ext cx="57150" cy="3876675"/>
          </a:xfrm>
          <a:prstGeom prst="rect">
            <a:avLst/>
          </a:prstGeom>
          <a:solidFill>
            <a:srgbClr val="385E7D"/>
          </a:solidFill>
          <a:ln w="0">
            <a:noFill/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4591050" y="1562100"/>
            <a:ext cx="29908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725" b="1">
                <a:solidFill>
                  <a:srgbClr val="385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defRPr sz="1725" b="1">
                <a:solidFill>
                  <a:srgbClr val="385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25" b="1">
                <a:solidFill>
                  <a:srgbClr val="385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仍待核验</a:t>
            </a:r>
            <a:endParaRPr sz="1725" b="1">
              <a:solidFill>
                <a:srgbClr val="385E7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4591050" y="1990725"/>
            <a:ext cx="2990850" cy="3181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1425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defRPr sz="1425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425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教师和管理员真实流程；</a:t>
            </a:r>
            <a:endParaRPr sz="1425" b="0">
              <a:solidFill>
                <a:srgbClr val="24364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  <a:p>
            <a:pPr>
              <a:defRPr sz="1425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425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软著逐件权属、课程材料公开授权；</a:t>
            </a:r>
            <a:endParaRPr sz="1425" b="0">
              <a:solidFill>
                <a:srgbClr val="24364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  <a:p>
            <a:pPr>
              <a:defRPr sz="1425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425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项目正式状态、专利法律状态；</a:t>
            </a:r>
            <a:endParaRPr sz="1425" b="0">
              <a:solidFill>
                <a:srgbClr val="24364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  <a:p>
            <a:pPr>
              <a:defRPr sz="1425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425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逐源自动采集与附件许可。</a:t>
            </a:r>
            <a:endParaRPr sz="1425" b="0">
              <a:solidFill>
                <a:srgbClr val="24364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153400" y="1438275"/>
            <a:ext cx="3371850" cy="3876675"/>
          </a:xfrm>
          <a:prstGeom prst="rect">
            <a:avLst/>
          </a:prstGeom>
          <a:solidFill>
            <a:srgbClr val="FFFFFF"/>
          </a:solidFill>
          <a:ln w="9525">
            <a:solidFill>
              <a:srgbClr val="C9D9E5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8153400" y="1438275"/>
            <a:ext cx="57150" cy="3876675"/>
          </a:xfrm>
          <a:prstGeom prst="rect">
            <a:avLst/>
          </a:prstGeom>
          <a:solidFill>
            <a:srgbClr val="385E7D"/>
          </a:solidFill>
          <a:ln w="0">
            <a:noFill/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8343900" y="1562100"/>
            <a:ext cx="29908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725" b="1">
                <a:solidFill>
                  <a:srgbClr val="385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defRPr sz="1725" b="1">
                <a:solidFill>
                  <a:srgbClr val="385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25" b="1">
                <a:solidFill>
                  <a:srgbClr val="385E7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交给需求建模</a:t>
            </a:r>
            <a:endParaRPr sz="1725" b="1">
              <a:solidFill>
                <a:srgbClr val="385E7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8343900" y="1990725"/>
            <a:ext cx="2990850" cy="3181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1425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defRPr sz="1425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425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作业1实测四类公开成果；</a:t>
            </a:r>
            <a:endParaRPr sz="1425" b="0">
              <a:solidFill>
                <a:srgbClr val="24364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  <a:p>
            <a:pPr>
              <a:defRPr sz="1425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425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作业2依B组SRS设计七类成果。专家合作网络是首期选定创新，尚未经真实用户偏好验证。</a:t>
            </a:r>
            <a:endParaRPr sz="1425" b="0">
              <a:solidFill>
                <a:srgbClr val="24364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  <a:p>
            <a:endParaRPr sz="1425"/>
          </a:p>
          <a:p>
            <a:pPr>
              <a:defRPr sz="1425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425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报告保留 R01—R10 与证据等级。</a:t>
            </a:r>
            <a:endParaRPr sz="1425" b="0">
              <a:solidFill>
                <a:srgbClr val="24364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66750" y="5610225"/>
            <a:ext cx="10858500" cy="466725"/>
          </a:xfrm>
          <a:prstGeom prst="rect">
            <a:avLst/>
          </a:prstGeom>
          <a:solidFill>
            <a:srgbClr val="EAF1F8"/>
          </a:solidFill>
          <a:ln w="0">
            <a:noFill/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838200" y="5638800"/>
            <a:ext cx="1047750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350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defRPr sz="1350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50" b="0">
                <a:solidFill>
                  <a:srgbClr val="24364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报告、数据源清单与补充实测记录保存可复核入口；“已实测”“设计选择”“待验证”分别标注。</a:t>
            </a:r>
            <a:endParaRPr sz="1350" b="0">
              <a:solidFill>
                <a:srgbClr val="24364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2362</Words>
  <Application>WPS 演示</Application>
  <PresentationFormat>Converted Presentation</PresentationFormat>
  <Paragraphs>285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3" baseType="lpstr">
      <vt:lpstr>Arial</vt:lpstr>
      <vt:lpstr>宋体</vt:lpstr>
      <vt:lpstr>Wingdings</vt:lpstr>
      <vt:lpstr>Hiragino Sans GB</vt:lpstr>
      <vt:lpstr>微软雅黑</vt:lpstr>
      <vt:lpstr>方正雅意黑 GB18030L2</vt:lpstr>
      <vt:lpstr>宋体</vt:lpstr>
      <vt:lpstr>Arial Unicode MS</vt:lpstr>
      <vt:lpstr>汉仪书宋二KW</vt:lpstr>
      <vt:lpstr>Aptos</vt:lpstr>
      <vt:lpstr>Helvetica Neue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黄嘉亮</cp:lastModifiedBy>
  <cp:revision>7</cp:revision>
  <dcterms:created xsi:type="dcterms:W3CDTF">2026-10-13T07:49:15Z</dcterms:created>
  <dcterms:modified xsi:type="dcterms:W3CDTF">2026-10-13T07:49:15Z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C2E65B2B4019FC6496E1CD6A377542AB_42</vt:lpwstr>
  </property>
  <property fmtid="{D5CDD505-2E9C-101B-9397-08002B2CF9AE}" pid="3" name="KSOProductBuildVer">
    <vt:lpwstr>2052-12.1.29181.29181</vt:lpwstr>
  </property>
</Properties>
</file>