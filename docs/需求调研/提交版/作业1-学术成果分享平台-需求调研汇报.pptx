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723900" y="733425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575" b="0">
                <a:solidFill>
                  <a:srgbClr val="B3C8D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5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B3C8D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《软件系统分析与设计》课程实践</a:t>
            </a:r>
            <a:endParaRPr sz="15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23900" y="1304925"/>
            <a:ext cx="10668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39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学术成果分享平台</a:t>
            </a:r>
            <a:endParaRPr sz="39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42950" y="2266950"/>
            <a:ext cx="106680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550" b="0">
                <a:solidFill>
                  <a:srgbClr val="69D0D2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325" b="0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550" b="0">
                <a:solidFill>
                  <a:srgbClr val="69D0D2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1  需求调研汇报</a:t>
            </a:r>
            <a:endParaRPr sz="2325" b="0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42950" y="3067050"/>
            <a:ext cx="10668000" cy="1905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42950" y="3314700"/>
            <a:ext cx="1047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65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6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65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北航软件学院案例：问卷、任务走查与公开数据源核验</a:t>
            </a:r>
            <a:endParaRPr sz="16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42950" y="405765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50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 小组名称：__</a:t>
            </a:r>
            <a:r>
              <a:rPr lang="zh-CN" sz="150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请输入文本</a:t>
            </a:r>
            <a:r>
              <a:rPr sz="150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__    汇报人：__</a:t>
            </a:r>
            <a:r>
              <a:rPr lang="zh-CN" sz="150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朱胥锦</a:t>
            </a:r>
            <a:r>
              <a:rPr sz="1500" b="0">
                <a:solidFill>
                  <a:srgbClr val="E6F0F5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_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449580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762625"/>
            <a:ext cx="10477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B3C8D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B3C8D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2026 年 10 月 </a:t>
            </a:r>
            <a:endParaRPr sz="12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矩形 34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调研方案：三类角色、两阶段执行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2/10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依据：需求调研报告 §1.1—1.4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28750"/>
            <a:ext cx="33718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428750"/>
            <a:ext cx="57150" cy="200025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目标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1981200"/>
            <a:ext cx="29908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核验成果查找、来源可信度、门户认领与审核中的问题，形成可追溯的需求。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10075" y="1428750"/>
            <a:ext cx="33718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10075" y="1428750"/>
            <a:ext cx="57150" cy="200025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00575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对象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00575" y="1981200"/>
            <a:ext cx="29908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普通用户：20 份学生问卷。科研人员和管理员：已设计访谈提纲，本轮没有真实访谈。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72450" y="1428750"/>
            <a:ext cx="337185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172450" y="1428750"/>
            <a:ext cx="57150" cy="200025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6295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方法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362950" y="1981200"/>
            <a:ext cx="29908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研读背景资料，开展问卷与任务走查，比较七个渠道，再核验公开数据源和许可。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3676650"/>
            <a:ext cx="1895475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  <p:txBody>
          <a:bodyPr/>
          <a:lstStyle/>
          <a:p/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52475" y="3714750"/>
            <a:ext cx="17240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阶段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562225" y="3676650"/>
            <a:ext cx="5448300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2647950" y="3714750"/>
            <a:ext cx="527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执行内容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010525" y="3676650"/>
            <a:ext cx="4181475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096250" y="3714750"/>
            <a:ext cx="40100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留存证据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66750" y="4076700"/>
            <a:ext cx="1895475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52475" y="4114800"/>
            <a:ext cx="172402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10 月 9—12 日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562225" y="4076700"/>
            <a:ext cx="544830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647950" y="4114800"/>
            <a:ext cx="5276850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问卷、知网及官网任务走查、竞品比较和存量抽样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010525" y="4076700"/>
            <a:ext cx="4181475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096250" y="4114800"/>
            <a:ext cx="401002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答卷、查询条件、截图、导出文件及矩阵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4933950"/>
            <a:ext cx="1895475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52475" y="4972050"/>
            <a:ext cx="172402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10 月 13 日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562225" y="4933950"/>
            <a:ext cx="544830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647950" y="4972050"/>
            <a:ext cx="5276850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开放接口、跨类型样本、领域试标和逐源许可核对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010525" y="4933950"/>
            <a:ext cx="4181475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096250" y="4972050"/>
            <a:ext cx="401002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接口响应、来源链接、字段缺口与许可记录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证据地图：两组材料回答不同问题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3/10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依据：需求调研报告 §2—3；补充实测记录 §2—5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38275"/>
            <a:ext cx="5143500" cy="37623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438275"/>
            <a:ext cx="57150" cy="37623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562100"/>
            <a:ext cx="47625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 组：北航案例与一手走查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1990725"/>
            <a:ext cx="4762500" cy="3067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 份学生问卷，知网、学院官网和课题组的任务走查。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已知样本：5 篇论文、3 件专利、3 项项目、3 项获奖。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保存查询条件、页面反馈、来源原值与失败状态。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19850" y="1438275"/>
            <a:ext cx="5124450" cy="37623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419850" y="1438275"/>
            <a:ext cx="57150" cy="37623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610350" y="1562100"/>
            <a:ext cx="4743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B 组：渠道比较与字段抽样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610350" y="1990725"/>
            <a:ext cx="4743450" cy="3067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比较 7 个渠道的公开能力和未知边界。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浙大计算机学院指定知网查询返回 456 条，从中抽 20 条核对页面字段。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buNone/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教师和管理员诉求仅为角色推演。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6750" y="5534025"/>
            <a:ext cx="10858500" cy="466725"/>
          </a:xfrm>
          <a:prstGeom prst="rect">
            <a:avLst/>
          </a:prstGeom>
          <a:solidFill>
            <a:srgbClr val="DDEEF2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38200" y="5562600"/>
            <a:ext cx="10477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北航任务走查与浙大字段抽样的对象、方法不同；数字分别解释，不合并为一份机构成果清单。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问卷结果与</a:t>
            </a: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同一论文在不同渠道得到不同反馈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4/10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依据：需求调研报告 §2.1—2.3；匿名化答卷 n=20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925" y="1861986"/>
            <a:ext cx="6572250" cy="3572178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7467600" y="1457325"/>
            <a:ext cx="4048125" cy="202882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67600" y="1457325"/>
            <a:ext cx="57150" cy="202882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58100" y="1581150"/>
            <a:ext cx="3667125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普通用户问卷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658100" y="2009775"/>
            <a:ext cx="366712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 份答卷中 18 人为本科生；检索与下载的重要性均值为 4.10/5。仅作学生侧探索。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67600" y="3657600"/>
            <a:ext cx="4048125" cy="20193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467600" y="3657600"/>
            <a:ext cx="57150" cy="20193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658100" y="3781425"/>
            <a:ext cx="3667125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跨渠道任务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658100" y="4210050"/>
            <a:ext cx="3667125" cy="1323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学院官网与课题组可核对 SANER 论文和获奖线索；知网指定查询反复报错。记录为查询失败，不能推断零收录。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矩形 42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检索结果必须区分五种状态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5/10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依据：需求调研报告 §2.2—2.4；A2—A4 走查记录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66750" y="1438275"/>
            <a:ext cx="2152650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52475" y="1476375"/>
            <a:ext cx="1981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状态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819400" y="1438275"/>
            <a:ext cx="4705350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2905125" y="1476375"/>
            <a:ext cx="453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观察或判定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524750" y="1438275"/>
            <a:ext cx="4667250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610475" y="1476375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平台应呈现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66750" y="1838325"/>
            <a:ext cx="21526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52475" y="1876425"/>
            <a:ext cx="19812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有结果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819400" y="1838325"/>
            <a:ext cx="47053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905125" y="1876425"/>
            <a:ext cx="45339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检索响应成功，展示题录及来源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524750" y="1838325"/>
            <a:ext cx="4667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610475" y="1876425"/>
            <a:ext cx="44958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结果、条件、时间和来源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2581275"/>
            <a:ext cx="21526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52475" y="2619375"/>
            <a:ext cx="19812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明确零结果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819400" y="2581275"/>
            <a:ext cx="47053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2905125" y="2619375"/>
            <a:ext cx="45339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查询成功但匹配记录数为零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524750" y="2581275"/>
            <a:ext cx="4667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610475" y="2619375"/>
            <a:ext cx="44958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零结果及可调整条件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66750" y="3324225"/>
            <a:ext cx="21526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52475" y="3362325"/>
            <a:ext cx="19812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查询失败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819400" y="3324225"/>
            <a:ext cx="47053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905125" y="3362325"/>
            <a:ext cx="45339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反复出现“请稍后重试”或接口报错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524750" y="3324225"/>
            <a:ext cx="4667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610475" y="3362325"/>
            <a:ext cx="44958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错误类型与重试入口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4067175"/>
            <a:ext cx="21526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52475" y="4105275"/>
            <a:ext cx="19812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权限不足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819400" y="4067175"/>
            <a:ext cx="47053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905125" y="4105275"/>
            <a:ext cx="45339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需要登录或缺访问授权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524750" y="4067175"/>
            <a:ext cx="4667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610475" y="4105275"/>
            <a:ext cx="44958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访问条件，不泄露受限内容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66750" y="4810125"/>
            <a:ext cx="21526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52475" y="4848225"/>
            <a:ext cx="19812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尚未采集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2819400" y="4810125"/>
            <a:ext cx="47053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905125" y="4848225"/>
            <a:ext cx="45339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该来源／类型未接入或未更新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7524750" y="4810125"/>
            <a:ext cx="4667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7610475" y="4848225"/>
            <a:ext cx="44958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覆盖范围与更新时间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66750" y="5695950"/>
            <a:ext cx="10858500" cy="466725"/>
          </a:xfrm>
          <a:prstGeom prst="rect">
            <a:avLst/>
          </a:prstGeom>
          <a:solidFill>
            <a:srgbClr val="DDEEF2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838200" y="5724525"/>
            <a:ext cx="10477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A2/A4 重试后仍见“请稍后重试”，因此 R04 要求把查询失败、明确零结果和未采集分别呈现。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开放论文源可取题录，也暴露版本问题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6/10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依据：补充实测记录 §2；OpenAlex／DBLP 请求记录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28750"/>
            <a:ext cx="337185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428750"/>
            <a:ext cx="57150" cy="38862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OpenAlex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1981200"/>
            <a:ext cx="2990850" cy="3190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 条已知 DOI 均返回 ID、DOI、题名和年份。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这只验证单条元数据可得性，不能推算平台对学院论文的总体覆盖率。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00550" y="1428750"/>
            <a:ext cx="337185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00550" y="1428750"/>
            <a:ext cx="57150" cy="38862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9105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DBLP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91050" y="1981200"/>
            <a:ext cx="2990850" cy="3190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 个同题检索均有返回；P3 返回 2 条。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正式发表与其他版本需核对，不能按题名自动计为两项，也不能直接合并。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53400" y="1428750"/>
            <a:ext cx="337185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153400" y="1428750"/>
            <a:ext cx="57150" cy="38862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跨源处理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343900" y="1981200"/>
            <a:ext cx="2990850" cy="3190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跨源作者写法可能不同，保留原始值和规范值。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DOI、关键词缺失时记录状态，不补造信息。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5591175"/>
            <a:ext cx="10858500" cy="466725"/>
          </a:xfrm>
          <a:prstGeom prst="rect">
            <a:avLst/>
          </a:prstGeom>
          <a:solidFill>
            <a:srgbClr val="DDEEF2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38200" y="5619750"/>
            <a:ext cx="10477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元数据可获取、可批量使用和可转载全文是三项不同的许可判断。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跨类型成果需要各自的字段和证据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7/10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依据：补充实测记录 §3—5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28750"/>
            <a:ext cx="3371850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428750"/>
            <a:ext cx="57150" cy="40005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三件专利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1981200"/>
            <a:ext cx="2990850" cy="3305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三件专利可核公布号、申请号、申请人和发明人。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现任学院不能反推历史归属；第三方页面不能代替官方法律状态。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00550" y="1428750"/>
            <a:ext cx="3371850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00550" y="1428750"/>
            <a:ext cx="57150" cy="40005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9105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三项项目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91050" y="1981200"/>
            <a:ext cx="2990850" cy="3305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三项项目有教师主页线索，但编号、期限、负责人或状态不齐。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论文致谢编号只能用于交叉查找，不能直接填为正式项目编号。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53400" y="1428750"/>
            <a:ext cx="3371850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153400" y="1428750"/>
            <a:ext cx="57150" cy="40005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552575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三项获奖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343900" y="1981200"/>
            <a:ext cx="2990850" cy="3305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三项获奖可用会议名单、论文页与学院报道交叉核对。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新闻报道与正式名单证据等级不同，论文 DOI 也不是奖项编号。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5638800"/>
            <a:ext cx="10858500" cy="466725"/>
          </a:xfrm>
          <a:prstGeom prst="rect">
            <a:avLst/>
          </a:prstGeom>
          <a:solidFill>
            <a:srgbClr val="DDEEF2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38200" y="5667375"/>
            <a:ext cx="10477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统一记录来源、字段缺失和核验等级，再决定能否进入正式成果记录。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分类与许可共同决定入库边界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8/10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依据：补充实测记录 §6—7；数据源清单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28750"/>
            <a:ext cx="5143500" cy="37623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428750"/>
            <a:ext cx="57150" cy="37623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552575"/>
            <a:ext cx="47625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领域分类：十条试标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1981200"/>
            <a:ext cx="4762500" cy="3067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成果类型与研究领域分开。一级参考学科目录，二级参考学院方向，三级采用受控主题词。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10 条试标中 P3、T3、R2 跨一级学科，需多标签和人工复核。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19850" y="1428750"/>
            <a:ext cx="5124450" cy="37623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419850" y="1428750"/>
            <a:ext cx="57150" cy="37623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610350" y="1552575"/>
            <a:ext cx="4743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来源与许可：逐源记录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610350" y="1981200"/>
            <a:ext cx="4743450" cy="3067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OpenAlex、DBLP 已验证单条元数据请求；论文全文另核许可。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知网限授权范围内人工核对；专利系统、学院及会议站点的批量获取条件待核。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每条候选保存来源、时间、原值和授权判断。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6750" y="5514975"/>
            <a:ext cx="10858500" cy="466725"/>
          </a:xfrm>
          <a:prstGeom prst="rect">
            <a:avLst/>
          </a:prstGeom>
          <a:solidFill>
            <a:srgbClr val="DDEEF2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38200" y="5543550"/>
            <a:ext cx="10477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公开页面可读，不等于取得批量采集或附件再发布许可。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矩形 46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从观察到需求：同时保留证据边界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9/10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依据：需求调研报告 §4—5；R01—R10 清单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57225" y="1381125"/>
            <a:ext cx="4143375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42950" y="1419225"/>
            <a:ext cx="39719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证据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800600" y="1381125"/>
            <a:ext cx="3762375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886325" y="1419225"/>
            <a:ext cx="35909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62975" y="1381125"/>
            <a:ext cx="3619500" cy="400050"/>
          </a:xfrm>
          <a:prstGeom prst="rect">
            <a:avLst/>
          </a:prstGeom>
          <a:solidFill>
            <a:srgbClr val="DDEEF2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648700" y="1419225"/>
            <a:ext cx="3448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边界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57225" y="1781175"/>
            <a:ext cx="4143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42950" y="1819275"/>
            <a:ext cx="3971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问卷和宽词任务显示查找成本</a:t>
            </a:r>
            <a:endParaRPr sz="12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800600" y="1781175"/>
            <a:ext cx="3762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886325" y="1819275"/>
            <a:ext cx="3590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R02 组合检索与条件回显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562975" y="1781175"/>
            <a:ext cx="3619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648700" y="1819275"/>
            <a:ext cx="34480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仅代表学生样本 n=20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57225" y="2447925"/>
            <a:ext cx="4143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42950" y="2486025"/>
            <a:ext cx="3971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知网指定查询反复报错</a:t>
            </a:r>
            <a:endParaRPr sz="12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800600" y="2447925"/>
            <a:ext cx="3762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886325" y="2486025"/>
            <a:ext cx="3590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R04 分开显示零结果与失败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562975" y="2447925"/>
            <a:ext cx="3619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648700" y="2486025"/>
            <a:ext cx="34480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不能推断数据库零收录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57225" y="3114675"/>
            <a:ext cx="4143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2950" y="3152775"/>
            <a:ext cx="3971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 条论文跨源，P3 同题两记录</a:t>
            </a:r>
            <a:endParaRPr sz="12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800600" y="3114675"/>
            <a:ext cx="3762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886325" y="3152775"/>
            <a:ext cx="3590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R03 来源留痕与去重核验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562975" y="3114675"/>
            <a:ext cx="3619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648700" y="3152775"/>
            <a:ext cx="34480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版本和作者关系需人工核对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57225" y="3781425"/>
            <a:ext cx="4143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42950" y="3819525"/>
            <a:ext cx="3971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B 组 20 条页面中 13 条未显示 DOI</a:t>
            </a:r>
            <a:endParaRPr sz="12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800600" y="3781425"/>
            <a:ext cx="3762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886325" y="3819525"/>
            <a:ext cx="3590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R08 字段可缺失并标状态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562975" y="3781425"/>
            <a:ext cx="3619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648700" y="3819525"/>
            <a:ext cx="34480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页面未显示不等于原文没有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57225" y="4448175"/>
            <a:ext cx="4143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42950" y="4486275"/>
            <a:ext cx="3971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开放接口可得，批量许可不一</a:t>
            </a:r>
            <a:endParaRPr sz="12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800600" y="4448175"/>
            <a:ext cx="3762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4886325" y="4486275"/>
            <a:ext cx="3590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R06 合法采集、清洗与更新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8562975" y="4448175"/>
            <a:ext cx="3619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648700" y="4486275"/>
            <a:ext cx="34480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逐源确认许可与频率要求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57225" y="5114925"/>
            <a:ext cx="4143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42950" y="5153025"/>
            <a:ext cx="3971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1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教师和管理员没有真实访谈</a:t>
            </a:r>
            <a:endParaRPr sz="12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4800600" y="5114925"/>
            <a:ext cx="3762375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886325" y="5153025"/>
            <a:ext cx="359092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R05 本人认领及审核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562975" y="5114925"/>
            <a:ext cx="3619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648700" y="5153025"/>
            <a:ext cx="34480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27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任务书必做，具体制度待核</a:t>
            </a:r>
            <a:endParaRPr sz="127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590550" y="304800"/>
            <a:ext cx="1101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700" b="1">
                <a:solidFill>
                  <a:srgbClr val="102A4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调研输出：优先级、边界与待验证项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38100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228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需求调研  10/10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009900" y="6429375"/>
            <a:ext cx="8534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9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975" b="0">
                <a:solidFill>
                  <a:srgbClr val="62788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依据：需求调研报告 §5—6；提交版数据源清单</a:t>
            </a:r>
            <a:endParaRPr sz="9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38275"/>
            <a:ext cx="3371850" cy="38766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438275"/>
            <a:ext cx="57150" cy="38766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562100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需求优先级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1990725"/>
            <a:ext cx="299085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R01—R06：Must，覆盖四类成果、组合检索、来源留痕、状态区分、门户认领和合法采集。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R07—R08：Should，涉及引用入口与缺失字段。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R09：基础统计 Must，网络分阶段。R10：待验证。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00550" y="1438275"/>
            <a:ext cx="3371850" cy="38766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00550" y="1438275"/>
            <a:ext cx="57150" cy="38766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91050" y="1562100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仍待核验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91050" y="1990725"/>
            <a:ext cx="299085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教师和管理员尚无真实访谈；软著和课件缺逐件授权。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项目正式状态、专利法律状态及逐源批量许可仍需核对。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53400" y="1438275"/>
            <a:ext cx="3371850" cy="3876675"/>
          </a:xfrm>
          <a:prstGeom prst="rect">
            <a:avLst/>
          </a:prstGeom>
          <a:solidFill>
            <a:srgbClr val="FFFFFF"/>
          </a:solidFill>
          <a:ln w="9525">
            <a:solidFill>
              <a:srgbClr val="BBD1DD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153400" y="1438275"/>
            <a:ext cx="57150" cy="3876675"/>
          </a:xfrm>
          <a:prstGeom prst="rect">
            <a:avLst/>
          </a:prstGeom>
          <a:solidFill>
            <a:srgbClr val="087E8B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562100"/>
            <a:ext cx="2990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1">
                <a:solidFill>
                  <a:srgbClr val="0A6676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交给需求建模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343900" y="1990725"/>
            <a:ext cx="299085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1 实测四类公开样本。作业 2 依 B 组 SRS V1.1 设计七类成果，专家合作网络列为本期必验。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buNone/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r>
              <a:t>设计范围不等于七类真实样本已取得。</a:t>
            </a:r>
            <a:endParaRPr sz="1425"/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5610225"/>
            <a:ext cx="10858500" cy="466725"/>
          </a:xfrm>
          <a:prstGeom prst="rect">
            <a:avLst/>
          </a:prstGeom>
          <a:solidFill>
            <a:srgbClr val="DDEEF2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38200" y="5638800"/>
            <a:ext cx="10477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buNone/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1F364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报告、数据源清单与实测记录留有入口；“已实测”“设计选择”“待验证”始终分开。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2416</Words>
  <Application>WPS 演示</Application>
  <PresentationFormat>Converted Presentation</PresentationFormat>
  <Paragraphs>280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宋体</vt:lpstr>
      <vt:lpstr>Wingdings</vt:lpstr>
      <vt:lpstr>Hiragino Sans GB</vt:lpstr>
      <vt:lpstr>微软雅黑</vt:lpstr>
      <vt:lpstr>方正雅意黑 GB18030L2</vt:lpstr>
      <vt:lpstr>宋体</vt:lpstr>
      <vt:lpstr>Arial Unicode MS</vt:lpstr>
      <vt:lpstr>汉仪书宋二KW</vt:lpstr>
      <vt:lpstr>Aptos</vt:lpstr>
      <vt:lpstr>Helvetica Neue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黄嘉亮</cp:lastModifiedBy>
  <cp:revision>3</cp:revision>
  <dcterms:created xsi:type="dcterms:W3CDTF">2026-10-13T13:21:18Z</dcterms:created>
  <dcterms:modified xsi:type="dcterms:W3CDTF">2026-10-13T13:21:18Z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79A5927A9F083169C52ECE6A2EEC70D0_42</vt:lpwstr>
  </property>
  <property fmtid="{D5CDD505-2E9C-101B-9397-08002B2CF9AE}" pid="3" name="KSOProductBuildVer">
    <vt:lpwstr>2052-12.1.29181.29181</vt:lpwstr>
  </property>
</Properties>
</file>